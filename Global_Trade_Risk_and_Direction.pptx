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70"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ED4181-D9F2-2875-042D-98120FE4DD1A}" v="70" dt="2026-08-10T13:40:52.235"/>
    <p1510:client id="{0B6F07A2-7EEE-1F3C-1F34-094275C98C42}" v="33" dt="2026-08-10T15:24:24.847"/>
    <p1510:client id="{0CE58020-96A5-C76A-8DE6-30C6F86AECD0}" v="2" dt="2026-08-08T20:43:50.281"/>
    <p1510:client id="{25ADA061-BE96-1968-F167-708D272910C0}" v="3" dt="2026-08-09T21:39:51.020"/>
    <p1510:client id="{3A7E98F8-8D5B-34B0-32D8-C61CF089D1EA}" v="1" dt="2026-08-09T21:03:16.838"/>
    <p1510:client id="{3B13B1E6-CF1C-F134-9863-BF91B59D8F77}" v="34" dt="2026-08-10T15:26:41.771"/>
    <p1510:client id="{97D566B0-B625-3818-FAEC-0003AB9B831F}" v="3" dt="2026-08-10T01:38:37.756"/>
    <p1510:client id="{9B1066B5-B5A1-5D73-48FA-49B91C16B140}" v="3" dt="2026-08-10T01:23:52.038"/>
    <p1510:client id="{A691AFCA-A66F-878D-2FC8-F355A7557E9A}" v="99" dt="2026-08-08T18:50:56.379"/>
    <p1510:client id="{BE775D3C-E0C9-F921-A463-D4B0E9918351}" v="162" dt="2026-08-09T22:31:16.448"/>
    <p1510:client id="{CF8747B9-0277-481D-7172-17F4B9707C06}" v="30" dt="2026-08-09T21:00:38.668"/>
    <p1510:client id="{DF194A69-8CA8-C5D1-3A4C-5D66ACC1DE57}" v="6" dt="2026-08-10T13:42:32.702"/>
    <p1510:client id="{F4E1C0A9-FF2D-81FD-F413-A8DADEE97E8D}" v="10" dt="2026-08-09T22:02:57.0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44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0341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E196A-332A-7A11-AE9C-E0D2C3E349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F5B02D-2226-ECB3-69C9-D08E8C0E6A4A}"/>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44D2F207-E8B6-37C1-028D-39D8E572A3B4}"/>
              </a:ext>
            </a:extLst>
          </p:cNvPr>
          <p:cNvSpPr>
            <a:spLocks noGrp="1"/>
          </p:cNvSpPr>
          <p:nvPr>
            <p:ph type="body" idx="1"/>
          </p:nvPr>
        </p:nvSpPr>
        <p:spPr/>
        <p:txBody>
          <a:bodyPr/>
          <a:lstStyle/>
          <a:p>
            <a:r>
              <a:rPr lang="en-US"/>
              <a:t>50 SECONDS.
SAY: "These two questions sound like the same question. Most risk dashboards treat them as the same question. Our project is essentially a test of whether that assumption holds."
Point at the 0.05 card, tell them to remember it, it comes back at the end.</a:t>
            </a:r>
          </a:p>
          <a:p>
            <a:endParaRPr lang="en-US"/>
          </a:p>
          <a:p>
            <a:r>
              <a:rPr lang="en-US"/>
              <a:t>The core finding is that structural fragility and growth direction are different, nearly independent properties of a trade route — we measured that rather than assuming it — so a decision-maker needs both lenses, because each one catches what the other misses.
IF RUNNING LONG: cut the disruption-events sentence.</a:t>
            </a:r>
          </a:p>
        </p:txBody>
      </p:sp>
      <p:sp>
        <p:nvSpPr>
          <p:cNvPr id="4" name="Slide Number Placeholder 3">
            <a:extLst>
              <a:ext uri="{FF2B5EF4-FFF2-40B4-BE49-F238E27FC236}">
                <a16:creationId xmlns:a16="http://schemas.microsoft.com/office/drawing/2014/main" id="{898A10BD-77D9-609C-BBCC-CF9F0275433C}"/>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1453210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20 SECONDS.
SAY: "We built two tools that answer two different questions about global trade risk, and then we tested whether they agree. They don't, and that turned out to be our most important finding."
Do NOT read the title aloud. Hook, names, move 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50 SECONDS.
SAY: "These two questions sound like the same question. Most risk dashboards treat them as the same question. Our project is essentially a test of whether that assumption holds."
Point at the 0.05 card, tell them to remember it, it comes back at the end.</a:t>
            </a:r>
          </a:p>
          <a:p>
            <a:endParaRPr lang="en-US"/>
          </a:p>
          <a:p>
            <a:r>
              <a:rPr lang="en-US"/>
              <a:t>The core finding is that structural fragility and growth direction are different, nearly independent properties of a trade route — we measured that rather than assuming it — so a decision-maker needs both lenses, because each one catches what the other misses.
IF RUNNING LONG: cut the disruption-events sentence.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60 SECONDS.
SAY: "We split chronologically, never randomly, a random split would leak the future into training. And notice both evaluation windows are shock periods. We made this hard on ourselves on purpose."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b="1" u="sng"/>
              <a:t>John</a:t>
            </a:r>
          </a:p>
          <a:p>
            <a:r>
              <a:rPr lang="en-US"/>
              <a:t>So can you just watch a global stress indicator to know which routes are in trouble? We tested it. The correlation between supply-chain pressure and trade growth is  weak and it's actually positive. Meaning that higher pressure actually came with higher growth!</a:t>
            </a:r>
          </a:p>
          <a:p>
            <a:endParaRPr lang="en-US"/>
          </a:p>
          <a:p>
            <a:r>
              <a:rPr lang="en-US"/>
              <a:t>That's 2021: worst port congestion on record, strongest growth in the dataset, because the congestion was caused by the rebound. A global index can't tell you if one specific corridor is in trouble. That's why we built corridor-level tools.</a:t>
            </a:r>
          </a:p>
          <a:p>
            <a:r>
              <a:rPr lang="en-US"/>
              <a:t>And remember Russia to EU — down 68%, then up 217%. It comes back."</a:t>
            </a:r>
          </a:p>
          <a:p>
            <a:r>
              <a:rPr lang="en-US"/>
              <a:t>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90 SECONDS. Second-most important slide.
SAY: "This is a rule-based scorecard and we're explicit about that, it works the way credit-risk traffic-light systems work. Three corridors sit in the danger quadrant: China to Japan, Japan to China, and USA to China. That's $401 billion of trade that's both systemically important and structurally fragile."
WALK TO THE SCREEN and point at the three red dots as you name them.
DO NOT read the five flags aloud, say "five flags" and move 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b="1" u="sng"/>
              <a:t>John</a:t>
            </a:r>
          </a:p>
          <a:p>
            <a:r>
              <a:rPr lang="en-US"/>
              <a:t>90 SECONDS
</a:t>
            </a:r>
            <a:r>
              <a:rPr lang="en-US" b="1"/>
              <a:t>SAY:</a:t>
            </a:r>
            <a:r>
              <a:rPr lang="en-US"/>
              <a:t> "Our forecasts are typically off by about 6.7 percentage points, versus 12.7 if you just assume next year looks like this year — a 47% improvement."</a:t>
            </a:r>
          </a:p>
          <a:p>
            <a:endParaRPr lang="en-US"/>
          </a:p>
          <a:p>
            <a:r>
              <a:rPr lang="en-US" b="1"/>
              <a:t>THEN, on 60%:</a:t>
            </a:r>
            <a:r>
              <a:rPr lang="en-US"/>
              <a:t> "We also get the direction right 60% of the time. Better than a coin flip, not reliable — which is why Slide 8 calls these directional guidance, not commitments."</a:t>
            </a:r>
          </a:p>
          <a:p>
            <a:endParaRPr lang="en-US"/>
          </a:p>
          <a:p>
            <a:r>
              <a:rPr lang="en-US" b="1"/>
              <a:t>THEN, on the second bullet:</a:t>
            </a:r>
            <a:r>
              <a:rPr lang="en-US"/>
              <a:t> "The features that actually carried weight were each route's own recent history — how fast it's growing, how big it is, whether growth is speeding up or slowing down</a:t>
            </a:r>
          </a:p>
          <a:p>
            <a:endParaRPr lang="en-US"/>
          </a:p>
          <a:p>
            <a:r>
              <a:rPr lang="en-US" b="1"/>
              <a:t>POINT AT THE TRIANGLE:</a:t>
            </a:r>
            <a:r>
              <a:rPr lang="en-US"/>
              <a:t> "That's the Russia to EU corridor I mentioned — our one big miss. We predicted 16%, it came in at 217%. It's off the top of the chart. One observation out of a hundred, and I'll come back to what it does to our error."</a:t>
            </a:r>
          </a:p>
          <a:p>
            <a:endParaRPr lang="en-US"/>
          </a:p>
          <a:p>
            <a:r>
              <a:rPr lang="en-US" b="1"/>
              <a:t>If asked about R²: it's 0.127, distorted by that single outlier. MAE is the metric we trust. Backup 03 has the numbers.</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120 SECONDS. THIS IS YOUR BEST SLIDE. SLOW DOWN.
SAY: "We built this test ourselves, and the honest answer is no. Our own risk scorecard does not predict which corridors will shrink. That's not a bug we're confessing, it IS the finding. Exposure tells you where a shock would hurt most. The model tells you which way trade is moving. Those are different jobs, and collapsing them into one number would have given a false sense of security."
Point at the bar chart: "If exposure predicted direction, this would slope downward. It doesn't."
THEN PAUSE. Two full seconds of silence.
NEVER CUT THIS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80 SECONDS.
Lead with recommendations, then state limitations BEFORE anyone asks. It preempts the hardest Q&amp;A.
Read only the bold headers aloud and expand from memory. Do not read both lines of every row.
CLOSE ON: "Two tools, tested against each other rather than just against themselves. Exposure is not direction, and that is now measured, not assumed."
Then STOP. Do not add "so yeah, that's our project."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Do not present the backup slides. Pull them up only if asked.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Answer to: "How do you know which features mattered?"
Key line: the model was memorising years, not learning corridor behaviour.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Answer to: "Why this model?" and "Did you tune it?"
The tuning result is reassuring, not a failure, it shows the config is near the sweet spot for this dataset size.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Answer to: "Your R² is only 0.127, isn't the model bad?"
SAY: MAE is the metric that matters for a decision tool. R² is distorted by a single 9.5σ sanctions shock. Excluding it, MAE drops to 4.80. We report both rather than hiding the outlier.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Answer to: "What did the scorecard actually output?"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Answer to: "How exactly did you test the risk framework?"
Rows = actual outcome, columns = whether we flagged High/Critical Risk. 1,100 historical corridor-years with known next-year outcomes.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51B"/>
        </a:solidFill>
        <a:effectLst/>
      </p:bgPr>
    </p:bg>
    <p:spTree>
      <p:nvGrpSpPr>
        <p:cNvPr id="1" name="">
          <a:extLst>
            <a:ext uri="{FF2B5EF4-FFF2-40B4-BE49-F238E27FC236}">
              <a16:creationId xmlns:a16="http://schemas.microsoft.com/office/drawing/2014/main" id="{85F54140-8A86-66F5-F63A-6CCF5336DAD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747F106-FEBA-080F-0B57-191653B5EDCA}"/>
              </a:ext>
            </a:extLst>
          </p:cNvPr>
          <p:cNvSpPr/>
          <p:nvPr/>
        </p:nvSpPr>
        <p:spPr>
          <a:xfrm>
            <a:off x="566928" y="384048"/>
            <a:ext cx="8686800" cy="237744"/>
          </a:xfrm>
          <a:prstGeom prst="rect">
            <a:avLst/>
          </a:prstGeom>
          <a:noFill/>
          <a:ln/>
        </p:spPr>
        <p:txBody>
          <a:bodyPr wrap="square" lIns="0" tIns="0" rIns="0" bIns="0" rtlCol="0" anchor="ctr"/>
          <a:lstStyle/>
          <a:p>
            <a:pPr marL="0" indent="0">
              <a:buNone/>
            </a:pPr>
            <a:r>
              <a:rPr lang="en-US" sz="3600" b="1" kern="0" spc="160">
                <a:solidFill>
                  <a:srgbClr val="E0973F"/>
                </a:solidFill>
                <a:latin typeface="Eurostile"/>
                <a:ea typeface="Eurostile" pitchFamily="34" charset="-122"/>
                <a:cs typeface="Eurostile" pitchFamily="34" charset="-120"/>
              </a:rPr>
              <a:t>THE ICE"BREAKER"</a:t>
            </a:r>
            <a:endParaRPr lang="en-US" sz="3600">
              <a:ea typeface="Calibri"/>
              <a:cs typeface="Calibri"/>
            </a:endParaRPr>
          </a:p>
        </p:txBody>
      </p:sp>
      <p:sp>
        <p:nvSpPr>
          <p:cNvPr id="23" name="Text 21">
            <a:extLst>
              <a:ext uri="{FF2B5EF4-FFF2-40B4-BE49-F238E27FC236}">
                <a16:creationId xmlns:a16="http://schemas.microsoft.com/office/drawing/2014/main" id="{CFA4256B-BD44-0437-6557-5A1B3CEB7977}"/>
              </a:ext>
            </a:extLst>
          </p:cNvPr>
          <p:cNvSpPr/>
          <p:nvPr/>
        </p:nvSpPr>
        <p:spPr>
          <a:xfrm>
            <a:off x="566928" y="5230368"/>
            <a:ext cx="2747313" cy="435670"/>
          </a:xfrm>
          <a:prstGeom prst="rect">
            <a:avLst/>
          </a:prstGeom>
          <a:noFill/>
          <a:ln/>
        </p:spPr>
        <p:txBody>
          <a:bodyPr wrap="square" lIns="0" tIns="0" rIns="0" bIns="0" rtlCol="0" anchor="ctr"/>
          <a:lstStyle/>
          <a:p>
            <a:r>
              <a:rPr lang="en-US" sz="1600" b="1" i="1">
                <a:solidFill>
                  <a:srgbClr val="D1614B"/>
                </a:solidFill>
                <a:latin typeface="Eurostile"/>
              </a:rPr>
              <a:t>Scan the QR Code to Begin</a:t>
            </a:r>
            <a:endParaRPr lang="en-US"/>
          </a:p>
        </p:txBody>
      </p:sp>
      <p:pic>
        <p:nvPicPr>
          <p:cNvPr id="10" name="Picture 9">
            <a:extLst>
              <a:ext uri="{FF2B5EF4-FFF2-40B4-BE49-F238E27FC236}">
                <a16:creationId xmlns:a16="http://schemas.microsoft.com/office/drawing/2014/main" id="{DBB7934C-2ABF-73EF-A492-BAC0C938CEFA}"/>
              </a:ext>
            </a:extLst>
          </p:cNvPr>
          <p:cNvPicPr>
            <a:picLocks noChangeAspect="1"/>
          </p:cNvPicPr>
          <p:nvPr/>
        </p:nvPicPr>
        <p:blipFill>
          <a:blip r:embed="rId3"/>
          <a:stretch>
            <a:fillRect/>
          </a:stretch>
        </p:blipFill>
        <p:spPr>
          <a:xfrm>
            <a:off x="3850820" y="1172935"/>
            <a:ext cx="4490358" cy="4517571"/>
          </a:xfrm>
          <a:prstGeom prst="rect">
            <a:avLst/>
          </a:prstGeom>
        </p:spPr>
      </p:pic>
    </p:spTree>
    <p:extLst>
      <p:ext uri="{BB962C8B-B14F-4D97-AF65-F5344CB8AC3E}">
        <p14:creationId xmlns:p14="http://schemas.microsoft.com/office/powerpoint/2010/main" val="1706236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11151B"/>
        </a:solidFill>
        <a:effectLst/>
      </p:bgPr>
    </p:bg>
    <p:spTree>
      <p:nvGrpSpPr>
        <p:cNvPr id="1" name=""/>
        <p:cNvGrpSpPr/>
        <p:nvPr/>
      </p:nvGrpSpPr>
      <p:grpSpPr>
        <a:xfrm>
          <a:off x="0" y="0"/>
          <a:ext cx="0" cy="0"/>
          <a:chOff x="0" y="0"/>
          <a:chExt cx="0" cy="0"/>
        </a:xfrm>
      </p:grpSpPr>
      <p:sp>
        <p:nvSpPr>
          <p:cNvPr id="2" name="Text 0"/>
          <p:cNvSpPr/>
          <p:nvPr/>
        </p:nvSpPr>
        <p:spPr>
          <a:xfrm>
            <a:off x="566928" y="2121408"/>
            <a:ext cx="10881360" cy="822960"/>
          </a:xfrm>
          <a:prstGeom prst="rect">
            <a:avLst/>
          </a:prstGeom>
          <a:noFill/>
          <a:ln/>
        </p:spPr>
        <p:txBody>
          <a:bodyPr wrap="square" lIns="0" tIns="0" rIns="0" bIns="0" rtlCol="0" anchor="ctr"/>
          <a:lstStyle/>
          <a:p>
            <a:r>
              <a:rPr lang="en-US" sz="5400" b="1">
                <a:solidFill>
                  <a:srgbClr val="E7EAEF"/>
                </a:solidFill>
                <a:latin typeface="Eurostile"/>
              </a:rPr>
              <a:t>Global Trade: Risk &amp; Direction</a:t>
            </a:r>
            <a:endParaRPr lang="en-US" sz="5400">
              <a:latin typeface="Calibri"/>
              <a:ea typeface="Calibri"/>
              <a:cs typeface="Calibri"/>
            </a:endParaRPr>
          </a:p>
        </p:txBody>
      </p:sp>
      <p:sp>
        <p:nvSpPr>
          <p:cNvPr id="3" name="Text 1"/>
          <p:cNvSpPr/>
          <p:nvPr/>
        </p:nvSpPr>
        <p:spPr>
          <a:xfrm>
            <a:off x="566928" y="2942492"/>
            <a:ext cx="10058400" cy="457200"/>
          </a:xfrm>
          <a:prstGeom prst="rect">
            <a:avLst/>
          </a:prstGeom>
          <a:noFill/>
          <a:ln/>
        </p:spPr>
        <p:txBody>
          <a:bodyPr wrap="square" lIns="0" tIns="0" rIns="0" bIns="0" rtlCol="0" anchor="ctr"/>
          <a:lstStyle/>
          <a:p>
            <a:r>
              <a:rPr lang="en-US" sz="2000">
                <a:solidFill>
                  <a:srgbClr val="E0973F"/>
                </a:solidFill>
                <a:ea typeface="+mn-lt"/>
                <a:cs typeface="+mn-lt"/>
              </a:rPr>
              <a:t>Where are we exposed, and where are we heading?</a:t>
            </a:r>
            <a:endParaRPr lang="en-US"/>
          </a:p>
        </p:txBody>
      </p:sp>
      <p:sp>
        <p:nvSpPr>
          <p:cNvPr id="4" name="Text 2"/>
          <p:cNvSpPr/>
          <p:nvPr/>
        </p:nvSpPr>
        <p:spPr>
          <a:xfrm>
            <a:off x="566928" y="3429000"/>
            <a:ext cx="7315200" cy="320040"/>
          </a:xfrm>
          <a:prstGeom prst="rect">
            <a:avLst/>
          </a:prstGeom>
          <a:noFill/>
          <a:ln/>
        </p:spPr>
        <p:txBody>
          <a:bodyPr wrap="square" lIns="0" tIns="0" rIns="0" bIns="0" rtlCol="0" anchor="ctr"/>
          <a:lstStyle/>
          <a:p>
            <a:pPr marL="0" indent="0">
              <a:buNone/>
            </a:pPr>
            <a:r>
              <a:rPr lang="en-US" sz="1400">
                <a:solidFill>
                  <a:srgbClr val="9AA5B5"/>
                </a:solidFill>
                <a:latin typeface="Eurostile" pitchFamily="34" charset="0"/>
                <a:ea typeface="Eurostile" pitchFamily="34" charset="-122"/>
                <a:cs typeface="Eurostile" pitchFamily="34" charset="-120"/>
              </a:rPr>
              <a:t>[ Naga, John, Juan ]</a:t>
            </a:r>
            <a:endParaRPr lang="en-US" sz="1400"/>
          </a:p>
        </p:txBody>
      </p:sp>
      <p:sp>
        <p:nvSpPr>
          <p:cNvPr id="6" name="Shape 4"/>
          <p:cNvSpPr/>
          <p:nvPr/>
        </p:nvSpPr>
        <p:spPr>
          <a:xfrm>
            <a:off x="566928" y="1804182"/>
            <a:ext cx="1371600" cy="50292"/>
          </a:xfrm>
          <a:prstGeom prst="rect">
            <a:avLst/>
          </a:prstGeom>
          <a:solidFill>
            <a:srgbClr val="46C2B4"/>
          </a:solidFill>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11151B"/>
        </a:solidFill>
        <a:effectLst/>
      </p:bgPr>
    </p:bg>
    <p:spTree>
      <p:nvGrpSpPr>
        <p:cNvPr id="1" name=""/>
        <p:cNvGrpSpPr/>
        <p:nvPr/>
      </p:nvGrpSpPr>
      <p:grpSpPr>
        <a:xfrm>
          <a:off x="0" y="0"/>
          <a:ext cx="0" cy="0"/>
          <a:chOff x="0" y="0"/>
          <a:chExt cx="0" cy="0"/>
        </a:xfrm>
      </p:grpSpPr>
      <p:sp>
        <p:nvSpPr>
          <p:cNvPr id="2" name="Text 0"/>
          <p:cNvSpPr/>
          <p:nvPr/>
        </p:nvSpPr>
        <p:spPr>
          <a:xfrm>
            <a:off x="566928" y="384048"/>
            <a:ext cx="8686800" cy="237744"/>
          </a:xfrm>
          <a:prstGeom prst="rect">
            <a:avLst/>
          </a:prstGeom>
          <a:noFill/>
          <a:ln/>
        </p:spPr>
        <p:txBody>
          <a:bodyPr wrap="square" lIns="0" tIns="0" rIns="0" bIns="0" rtlCol="0" anchor="ctr"/>
          <a:lstStyle/>
          <a:p>
            <a:pPr marL="0" indent="0">
              <a:buNone/>
            </a:pPr>
            <a:r>
              <a:rPr lang="en-US" sz="1150" b="1" kern="0" spc="160">
                <a:solidFill>
                  <a:srgbClr val="E0973F"/>
                </a:solidFill>
                <a:latin typeface="Eurostile" pitchFamily="34" charset="0"/>
                <a:ea typeface="Eurostile" pitchFamily="34" charset="-122"/>
                <a:cs typeface="Eurostile" pitchFamily="34" charset="-120"/>
              </a:rPr>
              <a:t>THE PROBLEM</a:t>
            </a:r>
            <a:endParaRPr lang="en-US" sz="1150"/>
          </a:p>
        </p:txBody>
      </p:sp>
      <p:sp>
        <p:nvSpPr>
          <p:cNvPr id="3" name="Text 1"/>
          <p:cNvSpPr/>
          <p:nvPr/>
        </p:nvSpPr>
        <p:spPr>
          <a:xfrm>
            <a:off x="566928" y="658368"/>
            <a:ext cx="10972800" cy="658368"/>
          </a:xfrm>
          <a:prstGeom prst="rect">
            <a:avLst/>
          </a:prstGeom>
          <a:noFill/>
          <a:ln/>
        </p:spPr>
        <p:txBody>
          <a:bodyPr wrap="square" lIns="0" tIns="0" rIns="0" bIns="0" rtlCol="0" anchor="ctr"/>
          <a:lstStyle/>
          <a:p>
            <a:pPr marL="0" indent="0">
              <a:buNone/>
            </a:pPr>
            <a:r>
              <a:rPr lang="en-US" sz="3000" b="1">
                <a:solidFill>
                  <a:srgbClr val="E7EAEF"/>
                </a:solidFill>
                <a:latin typeface="Eurostile" pitchFamily="34" charset="0"/>
                <a:ea typeface="Eurostile" pitchFamily="34" charset="-122"/>
                <a:cs typeface="Eurostile" pitchFamily="34" charset="-120"/>
              </a:rPr>
              <a:t>Two questions that sound like one question</a:t>
            </a:r>
            <a:endParaRPr lang="en-US" sz="3000"/>
          </a:p>
        </p:txBody>
      </p:sp>
      <p:sp>
        <p:nvSpPr>
          <p:cNvPr id="4" name="Shape 2"/>
          <p:cNvSpPr/>
          <p:nvPr/>
        </p:nvSpPr>
        <p:spPr>
          <a:xfrm>
            <a:off x="566928" y="1572768"/>
            <a:ext cx="5440680" cy="1143000"/>
          </a:xfrm>
          <a:prstGeom prst="roundRect">
            <a:avLst>
              <a:gd name="adj" fmla="val 5600"/>
            </a:avLst>
          </a:prstGeom>
          <a:solidFill>
            <a:srgbClr val="171C25"/>
          </a:solidFill>
          <a:ln w="12700">
            <a:solidFill>
              <a:srgbClr val="E0973F"/>
            </a:solidFill>
            <a:prstDash val="solid"/>
          </a:ln>
        </p:spPr>
        <p:txBody>
          <a:bodyPr/>
          <a:lstStyle/>
          <a:p>
            <a:endParaRPr lang="en-US"/>
          </a:p>
        </p:txBody>
      </p:sp>
      <p:sp>
        <p:nvSpPr>
          <p:cNvPr id="5" name="Text 3"/>
          <p:cNvSpPr/>
          <p:nvPr/>
        </p:nvSpPr>
        <p:spPr>
          <a:xfrm>
            <a:off x="795528" y="1783080"/>
            <a:ext cx="4983480" cy="365760"/>
          </a:xfrm>
          <a:prstGeom prst="rect">
            <a:avLst/>
          </a:prstGeom>
          <a:noFill/>
          <a:ln/>
        </p:spPr>
        <p:txBody>
          <a:bodyPr wrap="square" lIns="0" tIns="0" rIns="0" bIns="0" rtlCol="0" anchor="ctr"/>
          <a:lstStyle/>
          <a:p>
            <a:pPr marL="0" indent="0">
              <a:buNone/>
            </a:pPr>
            <a:r>
              <a:rPr lang="en-US" sz="1700" b="1">
                <a:solidFill>
                  <a:srgbClr val="E0973F"/>
                </a:solidFill>
                <a:latin typeface="Eurostile" pitchFamily="34" charset="0"/>
                <a:ea typeface="Eurostile" pitchFamily="34" charset="-122"/>
                <a:cs typeface="Eurostile" pitchFamily="34" charset="-120"/>
              </a:rPr>
              <a:t>Is this route structurally fragile?</a:t>
            </a:r>
            <a:endParaRPr lang="en-US" sz="1700"/>
          </a:p>
        </p:txBody>
      </p:sp>
      <p:sp>
        <p:nvSpPr>
          <p:cNvPr id="6" name="Text 4"/>
          <p:cNvSpPr/>
          <p:nvPr/>
        </p:nvSpPr>
        <p:spPr>
          <a:xfrm>
            <a:off x="795528" y="2176272"/>
            <a:ext cx="4983480" cy="365760"/>
          </a:xfrm>
          <a:prstGeom prst="rect">
            <a:avLst/>
          </a:prstGeom>
          <a:noFill/>
          <a:ln/>
        </p:spPr>
        <p:txBody>
          <a:bodyPr wrap="square" lIns="0" tIns="0" rIns="0" bIns="0" rtlCol="0" anchor="ctr"/>
          <a:lstStyle/>
          <a:p>
            <a:pPr marL="0" indent="0">
              <a:buNone/>
            </a:pPr>
            <a:r>
              <a:rPr lang="en-US" sz="1250">
                <a:solidFill>
                  <a:srgbClr val="9AA5B5"/>
                </a:solidFill>
                <a:latin typeface="Eurostile" pitchFamily="34" charset="0"/>
                <a:ea typeface="Eurostile" pitchFamily="34" charset="-122"/>
                <a:cs typeface="Eurostile" pitchFamily="34" charset="-120"/>
              </a:rPr>
              <a:t>Backward-looking:  concentration, volatility, industry exposure</a:t>
            </a:r>
            <a:endParaRPr lang="en-US" sz="1250"/>
          </a:p>
        </p:txBody>
      </p:sp>
      <p:sp>
        <p:nvSpPr>
          <p:cNvPr id="7" name="Shape 5"/>
          <p:cNvSpPr/>
          <p:nvPr/>
        </p:nvSpPr>
        <p:spPr>
          <a:xfrm>
            <a:off x="6153912" y="1572768"/>
            <a:ext cx="5440680" cy="1143000"/>
          </a:xfrm>
          <a:prstGeom prst="roundRect">
            <a:avLst>
              <a:gd name="adj" fmla="val 5600"/>
            </a:avLst>
          </a:prstGeom>
          <a:solidFill>
            <a:srgbClr val="171C25"/>
          </a:solidFill>
          <a:ln w="12700">
            <a:solidFill>
              <a:srgbClr val="46C2B4"/>
            </a:solidFill>
            <a:prstDash val="solid"/>
          </a:ln>
        </p:spPr>
        <p:txBody>
          <a:bodyPr/>
          <a:lstStyle/>
          <a:p>
            <a:endParaRPr lang="en-US"/>
          </a:p>
        </p:txBody>
      </p:sp>
      <p:sp>
        <p:nvSpPr>
          <p:cNvPr id="8" name="Text 6"/>
          <p:cNvSpPr/>
          <p:nvPr/>
        </p:nvSpPr>
        <p:spPr>
          <a:xfrm>
            <a:off x="6382512" y="1783080"/>
            <a:ext cx="4983480" cy="365760"/>
          </a:xfrm>
          <a:prstGeom prst="rect">
            <a:avLst/>
          </a:prstGeom>
          <a:noFill/>
          <a:ln/>
        </p:spPr>
        <p:txBody>
          <a:bodyPr wrap="square" lIns="0" tIns="0" rIns="0" bIns="0" rtlCol="0" anchor="ctr"/>
          <a:lstStyle/>
          <a:p>
            <a:pPr marL="0" indent="0">
              <a:buNone/>
            </a:pPr>
            <a:r>
              <a:rPr lang="en-US" sz="1700" b="1">
                <a:solidFill>
                  <a:srgbClr val="46C2B4"/>
                </a:solidFill>
                <a:latin typeface="Eurostile" pitchFamily="34" charset="0"/>
                <a:ea typeface="Eurostile" pitchFamily="34" charset="-122"/>
                <a:cs typeface="Eurostile" pitchFamily="34" charset="-120"/>
              </a:rPr>
              <a:t>Which direction is it heading next year?</a:t>
            </a:r>
            <a:endParaRPr lang="en-US" sz="1700"/>
          </a:p>
        </p:txBody>
      </p:sp>
      <p:sp>
        <p:nvSpPr>
          <p:cNvPr id="9" name="Text 7"/>
          <p:cNvSpPr/>
          <p:nvPr/>
        </p:nvSpPr>
        <p:spPr>
          <a:xfrm>
            <a:off x="6382512" y="2176272"/>
            <a:ext cx="4983480" cy="365760"/>
          </a:xfrm>
          <a:prstGeom prst="rect">
            <a:avLst/>
          </a:prstGeom>
          <a:noFill/>
          <a:ln/>
        </p:spPr>
        <p:txBody>
          <a:bodyPr wrap="square" lIns="0" tIns="0" rIns="0" bIns="0" rtlCol="0" anchor="ctr"/>
          <a:lstStyle/>
          <a:p>
            <a:pPr marL="0" indent="0">
              <a:buNone/>
            </a:pPr>
            <a:r>
              <a:rPr lang="en-US" sz="1250">
                <a:solidFill>
                  <a:srgbClr val="9AA5B5"/>
                </a:solidFill>
                <a:latin typeface="Eurostile" pitchFamily="34" charset="0"/>
                <a:ea typeface="Eurostile" pitchFamily="34" charset="-122"/>
                <a:cs typeface="Eurostile" pitchFamily="34" charset="-120"/>
              </a:rPr>
              <a:t>Forward-looking:  next-year trade growth forecast</a:t>
            </a:r>
            <a:endParaRPr lang="en-US" sz="1250"/>
          </a:p>
        </p:txBody>
      </p:sp>
      <p:sp>
        <p:nvSpPr>
          <p:cNvPr id="13" name="Shape 11"/>
          <p:cNvSpPr/>
          <p:nvPr/>
        </p:nvSpPr>
        <p:spPr>
          <a:xfrm>
            <a:off x="1935924" y="3142044"/>
            <a:ext cx="2697480" cy="1234440"/>
          </a:xfrm>
          <a:prstGeom prst="roundRect">
            <a:avLst>
              <a:gd name="adj" fmla="val 5185"/>
            </a:avLst>
          </a:prstGeom>
          <a:solidFill>
            <a:srgbClr val="171C25"/>
          </a:solidFill>
          <a:ln w="12700">
            <a:solidFill>
              <a:srgbClr val="232A34"/>
            </a:solidFill>
            <a:prstDash val="solid"/>
          </a:ln>
        </p:spPr>
        <p:txBody>
          <a:bodyPr/>
          <a:lstStyle/>
          <a:p>
            <a:endParaRPr lang="en-US"/>
          </a:p>
        </p:txBody>
      </p:sp>
      <p:sp>
        <p:nvSpPr>
          <p:cNvPr id="14" name="Text 12"/>
          <p:cNvSpPr/>
          <p:nvPr/>
        </p:nvSpPr>
        <p:spPr>
          <a:xfrm>
            <a:off x="2100516" y="3288348"/>
            <a:ext cx="2368296" cy="566928"/>
          </a:xfrm>
          <a:prstGeom prst="rect">
            <a:avLst/>
          </a:prstGeom>
          <a:noFill/>
          <a:ln/>
        </p:spPr>
        <p:txBody>
          <a:bodyPr wrap="square" lIns="0" tIns="0" rIns="0" bIns="0" rtlCol="0" anchor="ctr"/>
          <a:lstStyle/>
          <a:p>
            <a:pPr marL="0" indent="0" algn="l">
              <a:buNone/>
            </a:pPr>
            <a:r>
              <a:rPr lang="en-US" sz="2600" b="1">
                <a:solidFill>
                  <a:srgbClr val="E0973F"/>
                </a:solidFill>
                <a:latin typeface="Eurostile" pitchFamily="34" charset="0"/>
                <a:ea typeface="Eurostile" pitchFamily="34" charset="-122"/>
                <a:cs typeface="Eurostile" pitchFamily="34" charset="-120"/>
              </a:rPr>
              <a:t>$5.4T</a:t>
            </a:r>
            <a:endParaRPr lang="en-US" sz="2600"/>
          </a:p>
        </p:txBody>
      </p:sp>
      <p:sp>
        <p:nvSpPr>
          <p:cNvPr id="15" name="Text 13"/>
          <p:cNvSpPr/>
          <p:nvPr/>
        </p:nvSpPr>
        <p:spPr>
          <a:xfrm>
            <a:off x="2100516" y="3855276"/>
            <a:ext cx="2368296" cy="457200"/>
          </a:xfrm>
          <a:prstGeom prst="rect">
            <a:avLst/>
          </a:prstGeom>
          <a:noFill/>
          <a:ln/>
        </p:spPr>
        <p:txBody>
          <a:bodyPr wrap="square" lIns="0" tIns="0" rIns="0" bIns="0" rtlCol="0" anchor="ctr"/>
          <a:lstStyle/>
          <a:p>
            <a:pPr marL="0" indent="0" algn="l">
              <a:buNone/>
            </a:pPr>
            <a:r>
              <a:rPr lang="en-US" sz="1150">
                <a:solidFill>
                  <a:srgbClr val="9AA5B5"/>
                </a:solidFill>
                <a:latin typeface="Eurostile" pitchFamily="34" charset="0"/>
                <a:ea typeface="Eurostile" pitchFamily="34" charset="-122"/>
                <a:cs typeface="Eurostile" pitchFamily="34" charset="-120"/>
              </a:rPr>
              <a:t>Trade value, latest year (2024)</a:t>
            </a:r>
            <a:endParaRPr lang="en-US" sz="1150"/>
          </a:p>
        </p:txBody>
      </p:sp>
      <p:sp>
        <p:nvSpPr>
          <p:cNvPr id="16" name="Shape 14"/>
          <p:cNvSpPr/>
          <p:nvPr/>
        </p:nvSpPr>
        <p:spPr>
          <a:xfrm>
            <a:off x="4843716" y="3142044"/>
            <a:ext cx="2697480" cy="1234440"/>
          </a:xfrm>
          <a:prstGeom prst="roundRect">
            <a:avLst>
              <a:gd name="adj" fmla="val 5185"/>
            </a:avLst>
          </a:prstGeom>
          <a:solidFill>
            <a:srgbClr val="171C25"/>
          </a:solidFill>
          <a:ln w="12700">
            <a:solidFill>
              <a:srgbClr val="232A34"/>
            </a:solidFill>
            <a:prstDash val="solid"/>
          </a:ln>
        </p:spPr>
        <p:txBody>
          <a:bodyPr/>
          <a:lstStyle/>
          <a:p>
            <a:endParaRPr lang="en-US"/>
          </a:p>
        </p:txBody>
      </p:sp>
      <p:sp>
        <p:nvSpPr>
          <p:cNvPr id="17" name="Text 15"/>
          <p:cNvSpPr/>
          <p:nvPr/>
        </p:nvSpPr>
        <p:spPr>
          <a:xfrm>
            <a:off x="5008308" y="3288348"/>
            <a:ext cx="2368296" cy="566928"/>
          </a:xfrm>
          <a:prstGeom prst="rect">
            <a:avLst/>
          </a:prstGeom>
          <a:noFill/>
          <a:ln/>
        </p:spPr>
        <p:txBody>
          <a:bodyPr wrap="square" lIns="0" tIns="0" rIns="0" bIns="0" rtlCol="0" anchor="ctr"/>
          <a:lstStyle/>
          <a:p>
            <a:pPr marL="0" indent="0" algn="l">
              <a:buNone/>
            </a:pPr>
            <a:r>
              <a:rPr lang="en-US" sz="2600" b="1">
                <a:solidFill>
                  <a:srgbClr val="46C2B4"/>
                </a:solidFill>
                <a:latin typeface="Eurostile" pitchFamily="34" charset="0"/>
                <a:ea typeface="Eurostile" pitchFamily="34" charset="-122"/>
                <a:cs typeface="Eurostile" pitchFamily="34" charset="-120"/>
              </a:rPr>
              <a:t>47%</a:t>
            </a:r>
            <a:endParaRPr lang="en-US" sz="2600"/>
          </a:p>
        </p:txBody>
      </p:sp>
      <p:sp>
        <p:nvSpPr>
          <p:cNvPr id="18" name="Text 16"/>
          <p:cNvSpPr/>
          <p:nvPr/>
        </p:nvSpPr>
        <p:spPr>
          <a:xfrm>
            <a:off x="5008308" y="3855276"/>
            <a:ext cx="2368296" cy="457200"/>
          </a:xfrm>
          <a:prstGeom prst="rect">
            <a:avLst/>
          </a:prstGeom>
          <a:noFill/>
          <a:ln/>
        </p:spPr>
        <p:txBody>
          <a:bodyPr wrap="square" lIns="0" tIns="0" rIns="0" bIns="0" rtlCol="0" anchor="ctr"/>
          <a:lstStyle/>
          <a:p>
            <a:pPr marL="0" indent="0" algn="l">
              <a:buNone/>
            </a:pPr>
            <a:r>
              <a:rPr lang="en-US" sz="1150">
                <a:solidFill>
                  <a:srgbClr val="9AA5B5"/>
                </a:solidFill>
                <a:latin typeface="Eurostile" pitchFamily="34" charset="0"/>
                <a:ea typeface="Eurostile" pitchFamily="34" charset="-122"/>
                <a:cs typeface="Eurostile" pitchFamily="34" charset="-120"/>
              </a:rPr>
              <a:t>Forecast error reduction vs. baseline</a:t>
            </a:r>
            <a:endParaRPr lang="en-US" sz="1150"/>
          </a:p>
        </p:txBody>
      </p:sp>
      <p:sp>
        <p:nvSpPr>
          <p:cNvPr id="19" name="Shape 17"/>
          <p:cNvSpPr/>
          <p:nvPr/>
        </p:nvSpPr>
        <p:spPr>
          <a:xfrm>
            <a:off x="7751508" y="3142044"/>
            <a:ext cx="2697480" cy="1234440"/>
          </a:xfrm>
          <a:prstGeom prst="roundRect">
            <a:avLst>
              <a:gd name="adj" fmla="val 5185"/>
            </a:avLst>
          </a:prstGeom>
          <a:solidFill>
            <a:srgbClr val="171C25"/>
          </a:solidFill>
          <a:ln w="12700">
            <a:solidFill>
              <a:srgbClr val="232A34"/>
            </a:solidFill>
            <a:prstDash val="solid"/>
          </a:ln>
        </p:spPr>
        <p:txBody>
          <a:bodyPr/>
          <a:lstStyle/>
          <a:p>
            <a:endParaRPr lang="en-US"/>
          </a:p>
        </p:txBody>
      </p:sp>
      <p:sp>
        <p:nvSpPr>
          <p:cNvPr id="20" name="Text 18"/>
          <p:cNvSpPr/>
          <p:nvPr/>
        </p:nvSpPr>
        <p:spPr>
          <a:xfrm>
            <a:off x="7916100" y="3288348"/>
            <a:ext cx="2368296" cy="566928"/>
          </a:xfrm>
          <a:prstGeom prst="rect">
            <a:avLst/>
          </a:prstGeom>
          <a:noFill/>
          <a:ln/>
        </p:spPr>
        <p:txBody>
          <a:bodyPr wrap="square" lIns="0" tIns="0" rIns="0" bIns="0" rtlCol="0" anchor="ctr"/>
          <a:lstStyle/>
          <a:p>
            <a:pPr marL="0" indent="0" algn="l">
              <a:buNone/>
            </a:pPr>
            <a:r>
              <a:rPr lang="en-US" sz="2600" b="1">
                <a:solidFill>
                  <a:srgbClr val="D1614B"/>
                </a:solidFill>
                <a:latin typeface="Eurostile"/>
              </a:rPr>
              <a:t>0.05</a:t>
            </a:r>
            <a:endParaRPr lang="en-US" sz="2600"/>
          </a:p>
        </p:txBody>
      </p:sp>
      <p:sp>
        <p:nvSpPr>
          <p:cNvPr id="21" name="Text 19"/>
          <p:cNvSpPr/>
          <p:nvPr/>
        </p:nvSpPr>
        <p:spPr>
          <a:xfrm>
            <a:off x="7916100" y="3855276"/>
            <a:ext cx="2368296" cy="457200"/>
          </a:xfrm>
          <a:prstGeom prst="rect">
            <a:avLst/>
          </a:prstGeom>
          <a:noFill/>
          <a:ln/>
        </p:spPr>
        <p:txBody>
          <a:bodyPr wrap="square" lIns="0" tIns="0" rIns="0" bIns="0" rtlCol="0" anchor="ctr"/>
          <a:lstStyle/>
          <a:p>
            <a:pPr marL="0" indent="0" algn="l">
              <a:buNone/>
            </a:pPr>
            <a:r>
              <a:rPr lang="en-US" sz="1150">
                <a:solidFill>
                  <a:srgbClr val="9AA5B5"/>
                </a:solidFill>
                <a:latin typeface="Eurostile" pitchFamily="34" charset="0"/>
                <a:ea typeface="Eurostile" pitchFamily="34" charset="-122"/>
                <a:cs typeface="Eurostile" pitchFamily="34" charset="-120"/>
              </a:rPr>
              <a:t>Correlation between the two lenses</a:t>
            </a:r>
            <a:endParaRPr lang="en-US" sz="1150"/>
          </a:p>
        </p:txBody>
      </p:sp>
      <p:sp>
        <p:nvSpPr>
          <p:cNvPr id="22" name="Text 20"/>
          <p:cNvSpPr/>
          <p:nvPr/>
        </p:nvSpPr>
        <p:spPr>
          <a:xfrm>
            <a:off x="566928" y="4663440"/>
            <a:ext cx="10881360" cy="548640"/>
          </a:xfrm>
          <a:prstGeom prst="rect">
            <a:avLst/>
          </a:prstGeom>
          <a:noFill/>
          <a:ln/>
        </p:spPr>
        <p:txBody>
          <a:bodyPr wrap="square" lIns="0" tIns="0" rIns="0" bIns="0" rtlCol="0" anchor="ctr"/>
          <a:lstStyle/>
          <a:p>
            <a:r>
              <a:rPr lang="en-US" sz="1400">
                <a:solidFill>
                  <a:srgbClr val="E7EAEF"/>
                </a:solidFill>
                <a:latin typeface="Eurostile"/>
                <a:ea typeface="Eurostile" pitchFamily="34" charset="-122"/>
                <a:cs typeface="Eurostile" pitchFamily="34" charset="-120"/>
              </a:rPr>
              <a:t>Trade disruptions are becoming more common: </a:t>
            </a:r>
            <a:r>
              <a:rPr lang="en-US" b="1">
                <a:solidFill>
                  <a:schemeClr val="accent1"/>
                </a:solidFill>
                <a:latin typeface="Eurostile"/>
                <a:ea typeface="Eurostile" pitchFamily="34" charset="-122"/>
                <a:cs typeface="Eurostile" pitchFamily="34" charset="-120"/>
              </a:rPr>
              <a:t>1–2 </a:t>
            </a:r>
            <a:r>
              <a:rPr lang="en-US" sz="1400">
                <a:solidFill>
                  <a:srgbClr val="E7EAEF"/>
                </a:solidFill>
                <a:latin typeface="Eurostile"/>
                <a:ea typeface="Eurostile" pitchFamily="34" charset="-122"/>
                <a:cs typeface="Eurostile" pitchFamily="34" charset="-120"/>
              </a:rPr>
              <a:t>per year before 2015, </a:t>
            </a:r>
            <a:r>
              <a:rPr lang="en-US" b="1">
                <a:solidFill>
                  <a:schemeClr val="accent1"/>
                </a:solidFill>
                <a:latin typeface="Eurostile"/>
                <a:ea typeface="Eurostile" pitchFamily="34" charset="-122"/>
                <a:cs typeface="Eurostile" pitchFamily="34" charset="-120"/>
              </a:rPr>
              <a:t>9 </a:t>
            </a:r>
            <a:r>
              <a:rPr lang="en-US" sz="1400">
                <a:solidFill>
                  <a:srgbClr val="E7EAEF"/>
                </a:solidFill>
                <a:latin typeface="Eurostile"/>
                <a:ea typeface="Eurostile" pitchFamily="34" charset="-122"/>
                <a:cs typeface="Eurostile" pitchFamily="34" charset="-120"/>
              </a:rPr>
              <a:t>in 2024.</a:t>
            </a:r>
            <a:endParaRPr lang="en-US" sz="1400">
              <a:latin typeface="Eurostile"/>
            </a:endParaRPr>
          </a:p>
        </p:txBody>
      </p:sp>
      <p:sp>
        <p:nvSpPr>
          <p:cNvPr id="23" name="Text 21"/>
          <p:cNvSpPr/>
          <p:nvPr/>
        </p:nvSpPr>
        <p:spPr>
          <a:xfrm>
            <a:off x="566928" y="5230368"/>
            <a:ext cx="10881360" cy="411480"/>
          </a:xfrm>
          <a:prstGeom prst="rect">
            <a:avLst/>
          </a:prstGeom>
          <a:noFill/>
          <a:ln/>
        </p:spPr>
        <p:txBody>
          <a:bodyPr wrap="square" lIns="0" tIns="0" rIns="0" bIns="0" rtlCol="0" anchor="ctr"/>
          <a:lstStyle/>
          <a:p>
            <a:pPr marL="0" indent="0">
              <a:buNone/>
            </a:pPr>
            <a:r>
              <a:rPr lang="en-US" sz="1600" b="1" i="1">
                <a:solidFill>
                  <a:srgbClr val="D1614B"/>
                </a:solidFill>
                <a:latin typeface="Eurostile"/>
                <a:ea typeface="Eurostile" pitchFamily="34" charset="-122"/>
                <a:cs typeface="Eurostile" pitchFamily="34" charset="-120"/>
              </a:rPr>
              <a:t>Most risk tools combine both questions into one score. We tested whether that's safe to do</a:t>
            </a:r>
            <a:endParaRPr lang="en-US" sz="1600">
              <a:latin typeface="Eurostil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1151B"/>
        </a:solidFill>
        <a:effectLst/>
      </p:bgPr>
    </p:bg>
    <p:spTree>
      <p:nvGrpSpPr>
        <p:cNvPr id="1" name=""/>
        <p:cNvGrpSpPr/>
        <p:nvPr/>
      </p:nvGrpSpPr>
      <p:grpSpPr>
        <a:xfrm>
          <a:off x="0" y="0"/>
          <a:ext cx="0" cy="0"/>
          <a:chOff x="0" y="0"/>
          <a:chExt cx="0" cy="0"/>
        </a:xfrm>
      </p:grpSpPr>
      <p:sp>
        <p:nvSpPr>
          <p:cNvPr id="2" name="Text 0"/>
          <p:cNvSpPr/>
          <p:nvPr/>
        </p:nvSpPr>
        <p:spPr>
          <a:xfrm>
            <a:off x="566928" y="384048"/>
            <a:ext cx="8686800" cy="237744"/>
          </a:xfrm>
          <a:prstGeom prst="rect">
            <a:avLst/>
          </a:prstGeom>
          <a:noFill/>
          <a:ln/>
        </p:spPr>
        <p:txBody>
          <a:bodyPr wrap="square" lIns="0" tIns="0" rIns="0" bIns="0" rtlCol="0" anchor="ctr"/>
          <a:lstStyle/>
          <a:p>
            <a:pPr marL="0" indent="0">
              <a:buNone/>
            </a:pPr>
            <a:r>
              <a:rPr lang="en-US" sz="1150" b="1" kern="0" spc="160">
                <a:solidFill>
                  <a:srgbClr val="7186A6"/>
                </a:solidFill>
                <a:latin typeface="Eurostile" pitchFamily="34" charset="0"/>
                <a:ea typeface="Eurostile" pitchFamily="34" charset="-122"/>
                <a:cs typeface="Eurostile" pitchFamily="34" charset="-120"/>
              </a:rPr>
              <a:t>DATA &amp; METHOD</a:t>
            </a:r>
            <a:endParaRPr lang="en-US" sz="1150"/>
          </a:p>
        </p:txBody>
      </p:sp>
      <p:sp>
        <p:nvSpPr>
          <p:cNvPr id="3" name="Text 1"/>
          <p:cNvSpPr/>
          <p:nvPr/>
        </p:nvSpPr>
        <p:spPr>
          <a:xfrm>
            <a:off x="566928" y="658368"/>
            <a:ext cx="10972800" cy="658368"/>
          </a:xfrm>
          <a:prstGeom prst="rect">
            <a:avLst/>
          </a:prstGeom>
          <a:noFill/>
          <a:ln/>
        </p:spPr>
        <p:txBody>
          <a:bodyPr wrap="square" lIns="0" tIns="0" rIns="0" bIns="0" rtlCol="0" anchor="ctr"/>
          <a:lstStyle/>
          <a:p>
            <a:r>
              <a:rPr lang="en-US" sz="3000" b="1">
                <a:solidFill>
                  <a:srgbClr val="E7EAEF"/>
                </a:solidFill>
                <a:latin typeface="Eurostile"/>
                <a:ea typeface="Eurostile" pitchFamily="34" charset="-122"/>
                <a:cs typeface="Eurostile" pitchFamily="34" charset="-120"/>
              </a:rPr>
              <a:t>Five datasets merged, then split by time</a:t>
            </a:r>
            <a:endParaRPr lang="en-US" sz="3000">
              <a:latin typeface="Eurostile"/>
            </a:endParaRPr>
          </a:p>
        </p:txBody>
      </p:sp>
      <p:sp>
        <p:nvSpPr>
          <p:cNvPr id="4" name="Text 2"/>
          <p:cNvSpPr/>
          <p:nvPr/>
        </p:nvSpPr>
        <p:spPr>
          <a:xfrm>
            <a:off x="566928" y="1572768"/>
            <a:ext cx="5577840" cy="2286000"/>
          </a:xfrm>
          <a:prstGeom prst="rect">
            <a:avLst/>
          </a:prstGeom>
          <a:noFill/>
          <a:ln/>
        </p:spPr>
        <p:txBody>
          <a:bodyPr wrap="square" lIns="0" tIns="0" rIns="0" bIns="0" rtlCol="0" anchor="ctr"/>
          <a:lstStyle/>
          <a:p>
            <a:pPr marL="177800" indent="-177800">
              <a:lnSpc>
                <a:spcPts val="2100"/>
              </a:lnSpc>
              <a:spcAft>
                <a:spcPts val="1100"/>
              </a:spcAft>
              <a:buClr>
                <a:schemeClr val="bg1"/>
              </a:buClr>
              <a:buSzPct val="100000"/>
              <a:buChar char="•"/>
            </a:pPr>
            <a:r>
              <a:rPr lang="en-US">
                <a:solidFill>
                  <a:srgbClr val="0070C0"/>
                </a:solidFill>
                <a:latin typeface="Eurostile"/>
                <a:ea typeface="Eurostile" pitchFamily="34" charset="-122"/>
                <a:cs typeface="Eurostile" pitchFamily="34" charset="-120"/>
              </a:rPr>
              <a:t>5</a:t>
            </a:r>
            <a:r>
              <a:rPr lang="en-US">
                <a:solidFill>
                  <a:srgbClr val="E7EAEF"/>
                </a:solidFill>
                <a:latin typeface="Eurostile"/>
                <a:ea typeface="Eurostile" pitchFamily="34" charset="-122"/>
                <a:cs typeface="Eurostile" pitchFamily="34" charset="-120"/>
              </a:rPr>
              <a:t> </a:t>
            </a:r>
            <a:r>
              <a:rPr lang="en-US" sz="1450">
                <a:solidFill>
                  <a:srgbClr val="E7EAEF"/>
                </a:solidFill>
                <a:latin typeface="Eurostile"/>
                <a:ea typeface="Eurostile" pitchFamily="34" charset="-122"/>
                <a:cs typeface="Eurostile" pitchFamily="34" charset="-120"/>
              </a:rPr>
              <a:t>linked datasets merged: trade flows, shipping rates, commodity prices, disruption events, industry vulnerability​</a:t>
            </a:r>
          </a:p>
          <a:p>
            <a:pPr marL="177800" indent="-177800">
              <a:lnSpc>
                <a:spcPts val="2100"/>
              </a:lnSpc>
              <a:spcAft>
                <a:spcPts val="1100"/>
              </a:spcAft>
              <a:buClr>
                <a:schemeClr val="bg1"/>
              </a:buClr>
              <a:buSzPct val="100000"/>
              <a:buChar char="•"/>
            </a:pPr>
            <a:r>
              <a:rPr lang="en-US" b="1">
                <a:solidFill>
                  <a:srgbClr val="0070C0"/>
                </a:solidFill>
                <a:latin typeface="Eurostile"/>
                <a:ea typeface="Eurostile" pitchFamily="34" charset="-122"/>
                <a:cs typeface="Eurostile" pitchFamily="34" charset="-120"/>
              </a:rPr>
              <a:t>1,250</a:t>
            </a:r>
            <a:r>
              <a:rPr lang="en-US" sz="1450">
                <a:solidFill>
                  <a:srgbClr val="E7EAEF"/>
                </a:solidFill>
                <a:latin typeface="Eurostile"/>
                <a:ea typeface="Eurostile" pitchFamily="34" charset="-122"/>
                <a:cs typeface="Eurostile" pitchFamily="34" charset="-120"/>
              </a:rPr>
              <a:t> </a:t>
            </a:r>
            <a:r>
              <a:rPr lang="en-US">
                <a:solidFill>
                  <a:schemeClr val="accent1"/>
                </a:solidFill>
                <a:latin typeface="Eurostile"/>
                <a:ea typeface="Eurostile" pitchFamily="34" charset="-122"/>
                <a:cs typeface="Eurostile" pitchFamily="34" charset="-120"/>
              </a:rPr>
              <a:t>rows </a:t>
            </a:r>
            <a:r>
              <a:rPr lang="en-US" sz="1450">
                <a:solidFill>
                  <a:srgbClr val="E7EAEF"/>
                </a:solidFill>
                <a:latin typeface="Eurostile"/>
                <a:ea typeface="Eurostile" pitchFamily="34" charset="-122"/>
                <a:cs typeface="Eurostile" pitchFamily="34" charset="-120"/>
              </a:rPr>
              <a:t>= 50 corridors × 25 years, a complete panel with zero missing corridor-years​</a:t>
            </a:r>
          </a:p>
          <a:p>
            <a:pPr marL="177800" indent="-177800">
              <a:lnSpc>
                <a:spcPts val="2100"/>
              </a:lnSpc>
              <a:spcAft>
                <a:spcPts val="1100"/>
              </a:spcAft>
              <a:buClr>
                <a:schemeClr val="bg1"/>
              </a:buClr>
              <a:buSzPct val="100000"/>
              <a:buChar char="•"/>
            </a:pPr>
            <a:r>
              <a:rPr lang="en-US" sz="1450">
                <a:solidFill>
                  <a:srgbClr val="E7EAEF"/>
                </a:solidFill>
                <a:latin typeface="Eurostile"/>
                <a:ea typeface="Eurostile" pitchFamily="34" charset="-122"/>
                <a:cs typeface="Eurostile" pitchFamily="34" charset="-120"/>
              </a:rPr>
              <a:t>Target variable is NEXT year's growth, so every predictor is information available at decision time</a:t>
            </a:r>
            <a:endParaRPr lang="en-US" sz="1450">
              <a:latin typeface="Eurostile"/>
            </a:endParaRPr>
          </a:p>
        </p:txBody>
      </p:sp>
      <p:sp>
        <p:nvSpPr>
          <p:cNvPr id="5" name="Shape 3"/>
          <p:cNvSpPr/>
          <p:nvPr/>
        </p:nvSpPr>
        <p:spPr>
          <a:xfrm>
            <a:off x="6446520" y="1874520"/>
            <a:ext cx="2482596" cy="841248"/>
          </a:xfrm>
          <a:prstGeom prst="roundRect">
            <a:avLst>
              <a:gd name="adj" fmla="val 6522"/>
            </a:avLst>
          </a:prstGeom>
          <a:solidFill>
            <a:srgbClr val="171C25"/>
          </a:solidFill>
          <a:ln w="19050">
            <a:solidFill>
              <a:srgbClr val="7186A6"/>
            </a:solidFill>
            <a:prstDash val="solid"/>
          </a:ln>
        </p:spPr>
        <p:txBody>
          <a:bodyPr/>
          <a:lstStyle/>
          <a:p>
            <a:endParaRPr lang="en-US"/>
          </a:p>
        </p:txBody>
      </p:sp>
      <p:sp>
        <p:nvSpPr>
          <p:cNvPr id="6" name="Text 4"/>
          <p:cNvSpPr/>
          <p:nvPr/>
        </p:nvSpPr>
        <p:spPr>
          <a:xfrm>
            <a:off x="6446520" y="2002536"/>
            <a:ext cx="2482596" cy="274320"/>
          </a:xfrm>
          <a:prstGeom prst="rect">
            <a:avLst/>
          </a:prstGeom>
          <a:noFill/>
          <a:ln/>
        </p:spPr>
        <p:txBody>
          <a:bodyPr wrap="square" lIns="0" tIns="0" rIns="0" bIns="0" rtlCol="0" anchor="ctr"/>
          <a:lstStyle/>
          <a:p>
            <a:pPr marL="0" indent="0" algn="ctr">
              <a:buNone/>
            </a:pPr>
            <a:r>
              <a:rPr lang="en-US" sz="1250" b="1">
                <a:solidFill>
                  <a:srgbClr val="7186A6"/>
                </a:solidFill>
                <a:latin typeface="Eurostile" pitchFamily="34" charset="0"/>
                <a:ea typeface="Eurostile" pitchFamily="34" charset="-122"/>
                <a:cs typeface="Eurostile" pitchFamily="34" charset="-120"/>
              </a:rPr>
              <a:t>TRAIN</a:t>
            </a:r>
            <a:endParaRPr lang="en-US" sz="1250"/>
          </a:p>
        </p:txBody>
      </p:sp>
      <p:sp>
        <p:nvSpPr>
          <p:cNvPr id="7" name="Text 5"/>
          <p:cNvSpPr/>
          <p:nvPr/>
        </p:nvSpPr>
        <p:spPr>
          <a:xfrm>
            <a:off x="6446520" y="2286000"/>
            <a:ext cx="2482596" cy="256032"/>
          </a:xfrm>
          <a:prstGeom prst="rect">
            <a:avLst/>
          </a:prstGeom>
          <a:noFill/>
          <a:ln/>
        </p:spPr>
        <p:txBody>
          <a:bodyPr wrap="square" lIns="0" tIns="0" rIns="0" bIns="0" rtlCol="0" anchor="ctr"/>
          <a:lstStyle/>
          <a:p>
            <a:pPr marL="0" indent="0" algn="ctr">
              <a:buNone/>
            </a:pPr>
            <a:r>
              <a:rPr lang="en-US" sz="1200">
                <a:solidFill>
                  <a:srgbClr val="E7EAEF"/>
                </a:solidFill>
                <a:latin typeface="Eurostile" pitchFamily="34" charset="0"/>
                <a:ea typeface="Eurostile" pitchFamily="34" charset="-122"/>
                <a:cs typeface="Eurostile" pitchFamily="34" charset="-120"/>
              </a:rPr>
              <a:t>2000–2019</a:t>
            </a:r>
            <a:endParaRPr lang="en-US" sz="1200"/>
          </a:p>
        </p:txBody>
      </p:sp>
      <p:sp>
        <p:nvSpPr>
          <p:cNvPr id="8" name="Text 6"/>
          <p:cNvSpPr/>
          <p:nvPr/>
        </p:nvSpPr>
        <p:spPr>
          <a:xfrm>
            <a:off x="6446520" y="2788920"/>
            <a:ext cx="2482596" cy="256032"/>
          </a:xfrm>
          <a:prstGeom prst="rect">
            <a:avLst/>
          </a:prstGeom>
          <a:noFill/>
          <a:ln/>
        </p:spPr>
        <p:txBody>
          <a:bodyPr wrap="square" lIns="0" tIns="0" rIns="0" bIns="0" rtlCol="0" anchor="ctr"/>
          <a:lstStyle/>
          <a:p>
            <a:pPr marL="0" indent="0" algn="ctr">
              <a:buNone/>
            </a:pPr>
            <a:r>
              <a:rPr lang="en-US" sz="1100" i="1">
                <a:solidFill>
                  <a:srgbClr val="9AA5B5"/>
                </a:solidFill>
                <a:latin typeface="Eurostile"/>
                <a:ea typeface="Eurostile" pitchFamily="34" charset="-122"/>
                <a:cs typeface="Eurostile" pitchFamily="34" charset="-120"/>
              </a:rPr>
              <a:t>1,000 observations</a:t>
            </a:r>
            <a:endParaRPr lang="en-US" sz="1100"/>
          </a:p>
        </p:txBody>
      </p:sp>
      <p:sp>
        <p:nvSpPr>
          <p:cNvPr id="9" name="Shape 7"/>
          <p:cNvSpPr/>
          <p:nvPr/>
        </p:nvSpPr>
        <p:spPr>
          <a:xfrm>
            <a:off x="9020556" y="1874520"/>
            <a:ext cx="1195578" cy="841248"/>
          </a:xfrm>
          <a:prstGeom prst="roundRect">
            <a:avLst>
              <a:gd name="adj" fmla="val 6522"/>
            </a:avLst>
          </a:prstGeom>
          <a:solidFill>
            <a:srgbClr val="171C25"/>
          </a:solidFill>
          <a:ln w="19050">
            <a:solidFill>
              <a:srgbClr val="E0973F"/>
            </a:solidFill>
            <a:prstDash val="solid"/>
          </a:ln>
        </p:spPr>
        <p:txBody>
          <a:bodyPr/>
          <a:lstStyle/>
          <a:p>
            <a:endParaRPr lang="en-US"/>
          </a:p>
        </p:txBody>
      </p:sp>
      <p:sp>
        <p:nvSpPr>
          <p:cNvPr id="10" name="Text 8"/>
          <p:cNvSpPr/>
          <p:nvPr/>
        </p:nvSpPr>
        <p:spPr>
          <a:xfrm>
            <a:off x="9020556" y="2002536"/>
            <a:ext cx="1195578" cy="274320"/>
          </a:xfrm>
          <a:prstGeom prst="rect">
            <a:avLst/>
          </a:prstGeom>
          <a:noFill/>
          <a:ln/>
        </p:spPr>
        <p:txBody>
          <a:bodyPr wrap="square" lIns="0" tIns="0" rIns="0" bIns="0" rtlCol="0" anchor="ctr"/>
          <a:lstStyle/>
          <a:p>
            <a:pPr marL="0" indent="0" algn="ctr">
              <a:buNone/>
            </a:pPr>
            <a:r>
              <a:rPr lang="en-US" sz="1250" b="1">
                <a:solidFill>
                  <a:srgbClr val="E0973F"/>
                </a:solidFill>
                <a:latin typeface="Eurostile" pitchFamily="34" charset="0"/>
                <a:ea typeface="Eurostile" pitchFamily="34" charset="-122"/>
                <a:cs typeface="Eurostile" pitchFamily="34" charset="-120"/>
              </a:rPr>
              <a:t>VALIDATE</a:t>
            </a:r>
            <a:endParaRPr lang="en-US" sz="1250"/>
          </a:p>
        </p:txBody>
      </p:sp>
      <p:sp>
        <p:nvSpPr>
          <p:cNvPr id="11" name="Text 9"/>
          <p:cNvSpPr/>
          <p:nvPr/>
        </p:nvSpPr>
        <p:spPr>
          <a:xfrm>
            <a:off x="9020556" y="2286000"/>
            <a:ext cx="1195578" cy="256032"/>
          </a:xfrm>
          <a:prstGeom prst="rect">
            <a:avLst/>
          </a:prstGeom>
          <a:noFill/>
          <a:ln/>
        </p:spPr>
        <p:txBody>
          <a:bodyPr wrap="square" lIns="0" tIns="0" rIns="0" bIns="0" rtlCol="0" anchor="ctr"/>
          <a:lstStyle/>
          <a:p>
            <a:pPr marL="0" indent="0" algn="ctr">
              <a:buNone/>
            </a:pPr>
            <a:r>
              <a:rPr lang="en-US" sz="1200">
                <a:solidFill>
                  <a:srgbClr val="E7EAEF"/>
                </a:solidFill>
                <a:latin typeface="Eurostile" pitchFamily="34" charset="0"/>
                <a:ea typeface="Eurostile" pitchFamily="34" charset="-122"/>
                <a:cs typeface="Eurostile" pitchFamily="34" charset="-120"/>
              </a:rPr>
              <a:t>2020–2021</a:t>
            </a:r>
            <a:endParaRPr lang="en-US" sz="1200"/>
          </a:p>
        </p:txBody>
      </p:sp>
      <p:sp>
        <p:nvSpPr>
          <p:cNvPr id="12" name="Text 10"/>
          <p:cNvSpPr/>
          <p:nvPr/>
        </p:nvSpPr>
        <p:spPr>
          <a:xfrm>
            <a:off x="9020556" y="2788920"/>
            <a:ext cx="1195578" cy="256032"/>
          </a:xfrm>
          <a:prstGeom prst="rect">
            <a:avLst/>
          </a:prstGeom>
          <a:noFill/>
          <a:ln/>
        </p:spPr>
        <p:txBody>
          <a:bodyPr wrap="square" lIns="0" tIns="0" rIns="0" bIns="0" rtlCol="0" anchor="ctr"/>
          <a:lstStyle/>
          <a:p>
            <a:pPr marL="0" indent="0" algn="ctr">
              <a:buNone/>
            </a:pPr>
            <a:r>
              <a:rPr lang="en-US" sz="1100" i="1">
                <a:solidFill>
                  <a:srgbClr val="9AA5B5"/>
                </a:solidFill>
                <a:latin typeface="Eurostile" pitchFamily="34" charset="0"/>
                <a:ea typeface="Eurostile" pitchFamily="34" charset="-122"/>
                <a:cs typeface="Eurostile" pitchFamily="34" charset="-120"/>
              </a:rPr>
              <a:t>COVID shock</a:t>
            </a:r>
            <a:endParaRPr lang="en-US" sz="1100"/>
          </a:p>
        </p:txBody>
      </p:sp>
      <p:sp>
        <p:nvSpPr>
          <p:cNvPr id="13" name="Shape 11"/>
          <p:cNvSpPr/>
          <p:nvPr/>
        </p:nvSpPr>
        <p:spPr>
          <a:xfrm>
            <a:off x="10307574" y="1874520"/>
            <a:ext cx="1195578" cy="841248"/>
          </a:xfrm>
          <a:prstGeom prst="roundRect">
            <a:avLst>
              <a:gd name="adj" fmla="val 6522"/>
            </a:avLst>
          </a:prstGeom>
          <a:solidFill>
            <a:srgbClr val="171C25"/>
          </a:solidFill>
          <a:ln w="19050">
            <a:solidFill>
              <a:srgbClr val="D1614B"/>
            </a:solidFill>
            <a:prstDash val="solid"/>
          </a:ln>
        </p:spPr>
        <p:txBody>
          <a:bodyPr/>
          <a:lstStyle/>
          <a:p>
            <a:endParaRPr lang="en-US"/>
          </a:p>
        </p:txBody>
      </p:sp>
      <p:sp>
        <p:nvSpPr>
          <p:cNvPr id="14" name="Text 12"/>
          <p:cNvSpPr/>
          <p:nvPr/>
        </p:nvSpPr>
        <p:spPr>
          <a:xfrm>
            <a:off x="10307574" y="2002536"/>
            <a:ext cx="1195578" cy="274320"/>
          </a:xfrm>
          <a:prstGeom prst="rect">
            <a:avLst/>
          </a:prstGeom>
          <a:noFill/>
          <a:ln/>
        </p:spPr>
        <p:txBody>
          <a:bodyPr wrap="square" lIns="0" tIns="0" rIns="0" bIns="0" rtlCol="0" anchor="ctr"/>
          <a:lstStyle/>
          <a:p>
            <a:pPr marL="0" indent="0" algn="ctr">
              <a:buNone/>
            </a:pPr>
            <a:r>
              <a:rPr lang="en-US" sz="1250" b="1">
                <a:solidFill>
                  <a:srgbClr val="D1614B"/>
                </a:solidFill>
                <a:latin typeface="Eurostile" pitchFamily="34" charset="0"/>
                <a:ea typeface="Eurostile" pitchFamily="34" charset="-122"/>
                <a:cs typeface="Eurostile" pitchFamily="34" charset="-120"/>
              </a:rPr>
              <a:t>TEST</a:t>
            </a:r>
            <a:endParaRPr lang="en-US" sz="1250"/>
          </a:p>
        </p:txBody>
      </p:sp>
      <p:sp>
        <p:nvSpPr>
          <p:cNvPr id="15" name="Text 13"/>
          <p:cNvSpPr/>
          <p:nvPr/>
        </p:nvSpPr>
        <p:spPr>
          <a:xfrm>
            <a:off x="10307574" y="2286000"/>
            <a:ext cx="1195578" cy="256032"/>
          </a:xfrm>
          <a:prstGeom prst="rect">
            <a:avLst/>
          </a:prstGeom>
          <a:noFill/>
          <a:ln/>
        </p:spPr>
        <p:txBody>
          <a:bodyPr wrap="square" lIns="0" tIns="0" rIns="0" bIns="0" rtlCol="0" anchor="ctr"/>
          <a:lstStyle/>
          <a:p>
            <a:pPr marL="0" indent="0" algn="ctr">
              <a:buNone/>
            </a:pPr>
            <a:r>
              <a:rPr lang="en-US" sz="1200">
                <a:solidFill>
                  <a:srgbClr val="E7EAEF"/>
                </a:solidFill>
                <a:latin typeface="Eurostile" pitchFamily="34" charset="0"/>
                <a:ea typeface="Eurostile" pitchFamily="34" charset="-122"/>
                <a:cs typeface="Eurostile" pitchFamily="34" charset="-120"/>
              </a:rPr>
              <a:t>2022–2023</a:t>
            </a:r>
            <a:endParaRPr lang="en-US" sz="1200"/>
          </a:p>
        </p:txBody>
      </p:sp>
      <p:sp>
        <p:nvSpPr>
          <p:cNvPr id="16" name="Text 14"/>
          <p:cNvSpPr/>
          <p:nvPr/>
        </p:nvSpPr>
        <p:spPr>
          <a:xfrm>
            <a:off x="10307574" y="2788920"/>
            <a:ext cx="1195578" cy="256032"/>
          </a:xfrm>
          <a:prstGeom prst="rect">
            <a:avLst/>
          </a:prstGeom>
          <a:noFill/>
          <a:ln/>
        </p:spPr>
        <p:txBody>
          <a:bodyPr wrap="square" lIns="0" tIns="0" rIns="0" bIns="0" rtlCol="0" anchor="ctr"/>
          <a:lstStyle/>
          <a:p>
            <a:pPr marL="0" indent="0" algn="ctr">
              <a:buNone/>
            </a:pPr>
            <a:r>
              <a:rPr lang="en-US" sz="1100" i="1">
                <a:solidFill>
                  <a:srgbClr val="9AA5B5"/>
                </a:solidFill>
                <a:latin typeface="Eurostile" pitchFamily="34" charset="0"/>
                <a:ea typeface="Eurostile" pitchFamily="34" charset="-122"/>
                <a:cs typeface="Eurostile" pitchFamily="34" charset="-120"/>
              </a:rPr>
              <a:t>energy shock</a:t>
            </a:r>
            <a:endParaRPr lang="en-US" sz="1100"/>
          </a:p>
        </p:txBody>
      </p:sp>
      <p:sp>
        <p:nvSpPr>
          <p:cNvPr id="17" name="Shape 15"/>
          <p:cNvSpPr/>
          <p:nvPr/>
        </p:nvSpPr>
        <p:spPr>
          <a:xfrm>
            <a:off x="6446520" y="3172968"/>
            <a:ext cx="5056632" cy="0"/>
          </a:xfrm>
          <a:prstGeom prst="line">
            <a:avLst/>
          </a:prstGeom>
          <a:noFill/>
          <a:ln w="19050">
            <a:solidFill>
              <a:srgbClr val="2B323D"/>
            </a:solidFill>
            <a:prstDash val="solid"/>
            <a:tailEnd type="triangle"/>
          </a:ln>
        </p:spPr>
        <p:txBody>
          <a:bodyPr/>
          <a:lstStyle/>
          <a:p>
            <a:endParaRPr lang="en-US"/>
          </a:p>
        </p:txBody>
      </p:sp>
      <p:sp>
        <p:nvSpPr>
          <p:cNvPr id="18" name="Text 16"/>
          <p:cNvSpPr/>
          <p:nvPr/>
        </p:nvSpPr>
        <p:spPr>
          <a:xfrm>
            <a:off x="6446520" y="3246120"/>
            <a:ext cx="5148072" cy="256032"/>
          </a:xfrm>
          <a:prstGeom prst="rect">
            <a:avLst/>
          </a:prstGeom>
          <a:noFill/>
          <a:ln/>
        </p:spPr>
        <p:txBody>
          <a:bodyPr wrap="square" lIns="0" tIns="0" rIns="0" bIns="0" rtlCol="0" anchor="ctr"/>
          <a:lstStyle/>
          <a:p>
            <a:pPr marL="0" indent="0">
              <a:buNone/>
            </a:pPr>
            <a:r>
              <a:rPr lang="en-US" sz="1050">
                <a:solidFill>
                  <a:srgbClr val="6B7686"/>
                </a:solidFill>
                <a:latin typeface="Eurostile" pitchFamily="34" charset="0"/>
                <a:ea typeface="Eurostile" pitchFamily="34" charset="-122"/>
                <a:cs typeface="Eurostile" pitchFamily="34" charset="-120"/>
              </a:rPr>
              <a:t>time  →</a:t>
            </a:r>
            <a:endParaRPr lang="en-US" sz="1050"/>
          </a:p>
        </p:txBody>
      </p:sp>
      <p:sp>
        <p:nvSpPr>
          <p:cNvPr id="19" name="Text 17"/>
          <p:cNvSpPr/>
          <p:nvPr/>
        </p:nvSpPr>
        <p:spPr>
          <a:xfrm>
            <a:off x="6446520" y="3657600"/>
            <a:ext cx="5056632" cy="548640"/>
          </a:xfrm>
          <a:prstGeom prst="rect">
            <a:avLst/>
          </a:prstGeom>
          <a:noFill/>
          <a:ln/>
        </p:spPr>
        <p:txBody>
          <a:bodyPr wrap="square" lIns="0" tIns="0" rIns="0" bIns="0" rtlCol="0" anchor="ctr"/>
          <a:lstStyle/>
          <a:p>
            <a:pPr marL="0" indent="0">
              <a:buNone/>
            </a:pPr>
            <a:r>
              <a:rPr lang="en-US" sz="1300" i="1">
                <a:solidFill>
                  <a:srgbClr val="E0973F"/>
                </a:solidFill>
                <a:latin typeface="Eurostile" pitchFamily="34" charset="0"/>
                <a:ea typeface="Eurostile" pitchFamily="34" charset="-122"/>
                <a:cs typeface="Eurostile" pitchFamily="34" charset="-120"/>
              </a:rPr>
              <a:t>Both evaluation windows are deliberately shock periods.</a:t>
            </a:r>
            <a:endParaRPr lang="en-US" sz="1300"/>
          </a:p>
        </p:txBody>
      </p:sp>
      <p:sp>
        <p:nvSpPr>
          <p:cNvPr id="20" name="TextBox 19">
            <a:extLst>
              <a:ext uri="{FF2B5EF4-FFF2-40B4-BE49-F238E27FC236}">
                <a16:creationId xmlns:a16="http://schemas.microsoft.com/office/drawing/2014/main" id="{24A2F944-6FF7-BB04-FCE2-E957896D9926}"/>
              </a:ext>
            </a:extLst>
          </p:cNvPr>
          <p:cNvSpPr txBox="1"/>
          <p:nvPr/>
        </p:nvSpPr>
        <p:spPr>
          <a:xfrm>
            <a:off x="566928" y="4498848"/>
            <a:ext cx="5486400" cy="237744"/>
          </a:xfrm>
          <a:prstGeom prst="rect">
            <a:avLst/>
          </a:prstGeom>
          <a:noFill/>
        </p:spPr>
        <p:txBody>
          <a:bodyPr wrap="square" lIns="0" tIns="0" rIns="0" bIns="0">
            <a:spAutoFit/>
          </a:bodyPr>
          <a:lstStyle/>
          <a:p>
            <a:pPr algn="l"/>
            <a:r>
              <a:rPr sz="1050" b="1" i="0">
                <a:solidFill>
                  <a:srgbClr val="6B7686"/>
                </a:solidFill>
                <a:latin typeface="Eurostile"/>
              </a:rPr>
              <a:t>HOW THE PANEL WAS BUILT</a:t>
            </a:r>
          </a:p>
        </p:txBody>
      </p:sp>
      <p:sp>
        <p:nvSpPr>
          <p:cNvPr id="21" name="Rounded Rectangle 20">
            <a:extLst>
              <a:ext uri="{FF2B5EF4-FFF2-40B4-BE49-F238E27FC236}">
                <a16:creationId xmlns:a16="http://schemas.microsoft.com/office/drawing/2014/main" id="{0FA33EC8-C602-F8C1-7F68-490CF4FB6639}"/>
              </a:ext>
            </a:extLst>
          </p:cNvPr>
          <p:cNvSpPr/>
          <p:nvPr/>
        </p:nvSpPr>
        <p:spPr>
          <a:xfrm>
            <a:off x="566928" y="4828032"/>
            <a:ext cx="1298448" cy="475488"/>
          </a:xfrm>
          <a:prstGeom prst="roundRect">
            <a:avLst/>
          </a:prstGeom>
          <a:solidFill>
            <a:srgbClr val="171C25"/>
          </a:solidFill>
          <a:ln w="12700">
            <a:solidFill>
              <a:srgbClr val="232A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40625472-C672-5D7B-897F-710E39BBB56A}"/>
              </a:ext>
            </a:extLst>
          </p:cNvPr>
          <p:cNvSpPr txBox="1"/>
          <p:nvPr/>
        </p:nvSpPr>
        <p:spPr>
          <a:xfrm>
            <a:off x="566928" y="4956048"/>
            <a:ext cx="1298448" cy="274320"/>
          </a:xfrm>
          <a:prstGeom prst="rect">
            <a:avLst/>
          </a:prstGeom>
          <a:noFill/>
        </p:spPr>
        <p:txBody>
          <a:bodyPr wrap="square" lIns="0" tIns="0" rIns="0" bIns="0">
            <a:spAutoFit/>
          </a:bodyPr>
          <a:lstStyle/>
          <a:p>
            <a:pPr algn="ctr"/>
            <a:r>
              <a:rPr sz="1050" b="0" i="0">
                <a:solidFill>
                  <a:srgbClr val="9AA5B5"/>
                </a:solidFill>
                <a:latin typeface="Eurostile"/>
              </a:rPr>
              <a:t>Trade flows</a:t>
            </a:r>
          </a:p>
        </p:txBody>
      </p:sp>
      <p:sp>
        <p:nvSpPr>
          <p:cNvPr id="23" name="Rounded Rectangle 22">
            <a:extLst>
              <a:ext uri="{FF2B5EF4-FFF2-40B4-BE49-F238E27FC236}">
                <a16:creationId xmlns:a16="http://schemas.microsoft.com/office/drawing/2014/main" id="{300C6FF8-C7D0-612F-D82F-A880BD679340}"/>
              </a:ext>
            </a:extLst>
          </p:cNvPr>
          <p:cNvSpPr/>
          <p:nvPr/>
        </p:nvSpPr>
        <p:spPr>
          <a:xfrm>
            <a:off x="1975104" y="4828032"/>
            <a:ext cx="1298448" cy="475488"/>
          </a:xfrm>
          <a:prstGeom prst="roundRect">
            <a:avLst/>
          </a:prstGeom>
          <a:solidFill>
            <a:srgbClr val="171C25"/>
          </a:solidFill>
          <a:ln w="12700">
            <a:solidFill>
              <a:srgbClr val="232A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E12DA73B-02CD-6FE1-BED6-728A880DEDEB}"/>
              </a:ext>
            </a:extLst>
          </p:cNvPr>
          <p:cNvSpPr txBox="1"/>
          <p:nvPr/>
        </p:nvSpPr>
        <p:spPr>
          <a:xfrm>
            <a:off x="1975104" y="4956048"/>
            <a:ext cx="1298448" cy="274320"/>
          </a:xfrm>
          <a:prstGeom prst="rect">
            <a:avLst/>
          </a:prstGeom>
          <a:noFill/>
        </p:spPr>
        <p:txBody>
          <a:bodyPr wrap="square" lIns="0" tIns="0" rIns="0" bIns="0">
            <a:spAutoFit/>
          </a:bodyPr>
          <a:lstStyle/>
          <a:p>
            <a:pPr algn="ctr"/>
            <a:r>
              <a:rPr sz="1050" b="0" i="0">
                <a:solidFill>
                  <a:srgbClr val="9AA5B5"/>
                </a:solidFill>
                <a:latin typeface="Eurostile"/>
              </a:rPr>
              <a:t>Shipping</a:t>
            </a:r>
          </a:p>
        </p:txBody>
      </p:sp>
      <p:sp>
        <p:nvSpPr>
          <p:cNvPr id="27" name="Rounded Rectangle 26">
            <a:extLst>
              <a:ext uri="{FF2B5EF4-FFF2-40B4-BE49-F238E27FC236}">
                <a16:creationId xmlns:a16="http://schemas.microsoft.com/office/drawing/2014/main" id="{8040DF01-D8C6-E5E3-AFAC-045C7D88A417}"/>
              </a:ext>
            </a:extLst>
          </p:cNvPr>
          <p:cNvSpPr/>
          <p:nvPr/>
        </p:nvSpPr>
        <p:spPr>
          <a:xfrm>
            <a:off x="3377435" y="4828032"/>
            <a:ext cx="1298448" cy="475488"/>
          </a:xfrm>
          <a:prstGeom prst="roundRect">
            <a:avLst/>
          </a:prstGeom>
          <a:solidFill>
            <a:srgbClr val="171C25"/>
          </a:solidFill>
          <a:ln w="12700">
            <a:solidFill>
              <a:srgbClr val="232A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760B134E-4838-71E1-9004-E14B2F4F6183}"/>
              </a:ext>
            </a:extLst>
          </p:cNvPr>
          <p:cNvSpPr txBox="1"/>
          <p:nvPr/>
        </p:nvSpPr>
        <p:spPr>
          <a:xfrm>
            <a:off x="3377435" y="4956048"/>
            <a:ext cx="1298448" cy="274320"/>
          </a:xfrm>
          <a:prstGeom prst="rect">
            <a:avLst/>
          </a:prstGeom>
          <a:noFill/>
        </p:spPr>
        <p:txBody>
          <a:bodyPr wrap="square" lIns="0" tIns="0" rIns="0" bIns="0">
            <a:spAutoFit/>
          </a:bodyPr>
          <a:lstStyle/>
          <a:p>
            <a:pPr algn="ctr"/>
            <a:r>
              <a:rPr sz="1050" b="0" i="0">
                <a:solidFill>
                  <a:srgbClr val="9AA5B5"/>
                </a:solidFill>
                <a:latin typeface="Eurostile"/>
              </a:rPr>
              <a:t>Commodities</a:t>
            </a:r>
          </a:p>
        </p:txBody>
      </p:sp>
      <p:sp>
        <p:nvSpPr>
          <p:cNvPr id="29" name="Rounded Rectangle 28">
            <a:extLst>
              <a:ext uri="{FF2B5EF4-FFF2-40B4-BE49-F238E27FC236}">
                <a16:creationId xmlns:a16="http://schemas.microsoft.com/office/drawing/2014/main" id="{1F1D92CD-1171-3AFC-3E8E-F23D5DCBB56B}"/>
              </a:ext>
            </a:extLst>
          </p:cNvPr>
          <p:cNvSpPr/>
          <p:nvPr/>
        </p:nvSpPr>
        <p:spPr>
          <a:xfrm>
            <a:off x="4785611" y="4828032"/>
            <a:ext cx="1298448" cy="475488"/>
          </a:xfrm>
          <a:prstGeom prst="roundRect">
            <a:avLst/>
          </a:prstGeom>
          <a:solidFill>
            <a:srgbClr val="171C25"/>
          </a:solidFill>
          <a:ln w="12700">
            <a:solidFill>
              <a:srgbClr val="232A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a:extLst>
              <a:ext uri="{FF2B5EF4-FFF2-40B4-BE49-F238E27FC236}">
                <a16:creationId xmlns:a16="http://schemas.microsoft.com/office/drawing/2014/main" id="{224E0CFC-68C0-E360-0B38-C842271A7E5E}"/>
              </a:ext>
            </a:extLst>
          </p:cNvPr>
          <p:cNvSpPr txBox="1"/>
          <p:nvPr/>
        </p:nvSpPr>
        <p:spPr>
          <a:xfrm>
            <a:off x="4785611" y="4956048"/>
            <a:ext cx="1298448" cy="274320"/>
          </a:xfrm>
          <a:prstGeom prst="rect">
            <a:avLst/>
          </a:prstGeom>
          <a:noFill/>
        </p:spPr>
        <p:txBody>
          <a:bodyPr wrap="square" lIns="0" tIns="0" rIns="0" bIns="0">
            <a:spAutoFit/>
          </a:bodyPr>
          <a:lstStyle/>
          <a:p>
            <a:pPr algn="ctr"/>
            <a:r>
              <a:rPr sz="1050" b="0" i="0">
                <a:solidFill>
                  <a:srgbClr val="9AA5B5"/>
                </a:solidFill>
                <a:latin typeface="Eurostile"/>
              </a:rPr>
              <a:t>Disruptions</a:t>
            </a:r>
          </a:p>
        </p:txBody>
      </p:sp>
      <p:sp>
        <p:nvSpPr>
          <p:cNvPr id="31" name="Rounded Rectangle 30">
            <a:extLst>
              <a:ext uri="{FF2B5EF4-FFF2-40B4-BE49-F238E27FC236}">
                <a16:creationId xmlns:a16="http://schemas.microsoft.com/office/drawing/2014/main" id="{43513A05-B86E-FA70-5925-4BDE362CAC14}"/>
              </a:ext>
            </a:extLst>
          </p:cNvPr>
          <p:cNvSpPr/>
          <p:nvPr/>
        </p:nvSpPr>
        <p:spPr>
          <a:xfrm>
            <a:off x="6193787" y="4828032"/>
            <a:ext cx="1298448" cy="475488"/>
          </a:xfrm>
          <a:prstGeom prst="roundRect">
            <a:avLst/>
          </a:prstGeom>
          <a:solidFill>
            <a:srgbClr val="171C25"/>
          </a:solidFill>
          <a:ln w="12700">
            <a:solidFill>
              <a:srgbClr val="232A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0395F6C5-0B2A-91A6-1ABB-E218793B618F}"/>
              </a:ext>
            </a:extLst>
          </p:cNvPr>
          <p:cNvSpPr txBox="1"/>
          <p:nvPr/>
        </p:nvSpPr>
        <p:spPr>
          <a:xfrm>
            <a:off x="6193787" y="4956048"/>
            <a:ext cx="1298448" cy="274320"/>
          </a:xfrm>
          <a:prstGeom prst="rect">
            <a:avLst/>
          </a:prstGeom>
          <a:noFill/>
        </p:spPr>
        <p:txBody>
          <a:bodyPr wrap="square" lIns="0" tIns="0" rIns="0" bIns="0">
            <a:spAutoFit/>
          </a:bodyPr>
          <a:lstStyle/>
          <a:p>
            <a:pPr algn="ctr"/>
            <a:r>
              <a:rPr sz="1050" b="0" i="0">
                <a:solidFill>
                  <a:srgbClr val="9AA5B5"/>
                </a:solidFill>
                <a:latin typeface="Eurostile"/>
              </a:rPr>
              <a:t>Industry</a:t>
            </a:r>
          </a:p>
        </p:txBody>
      </p:sp>
      <p:sp>
        <p:nvSpPr>
          <p:cNvPr id="33" name="Right Arrow 32">
            <a:extLst>
              <a:ext uri="{FF2B5EF4-FFF2-40B4-BE49-F238E27FC236}">
                <a16:creationId xmlns:a16="http://schemas.microsoft.com/office/drawing/2014/main" id="{2742DC5A-374B-1175-B58D-35AE0F267919}"/>
              </a:ext>
            </a:extLst>
          </p:cNvPr>
          <p:cNvSpPr/>
          <p:nvPr/>
        </p:nvSpPr>
        <p:spPr>
          <a:xfrm>
            <a:off x="7620251" y="4937760"/>
            <a:ext cx="384048" cy="256032"/>
          </a:xfrm>
          <a:prstGeom prst="rightArrow">
            <a:avLst/>
          </a:prstGeom>
          <a:solidFill>
            <a:srgbClr val="3A42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a:extLst>
              <a:ext uri="{FF2B5EF4-FFF2-40B4-BE49-F238E27FC236}">
                <a16:creationId xmlns:a16="http://schemas.microsoft.com/office/drawing/2014/main" id="{763C8E04-A527-3ADE-7169-D64CA4449A94}"/>
              </a:ext>
            </a:extLst>
          </p:cNvPr>
          <p:cNvSpPr/>
          <p:nvPr/>
        </p:nvSpPr>
        <p:spPr>
          <a:xfrm>
            <a:off x="8114027" y="4773168"/>
            <a:ext cx="2066543" cy="585216"/>
          </a:xfrm>
          <a:prstGeom prst="roundRect">
            <a:avLst/>
          </a:prstGeom>
          <a:solidFill>
            <a:srgbClr val="171C25"/>
          </a:solidFill>
          <a:ln w="12700">
            <a:solidFill>
              <a:srgbClr val="46C2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A08FFE16-E814-EFE5-6CB2-B72E6EB6C105}"/>
              </a:ext>
            </a:extLst>
          </p:cNvPr>
          <p:cNvSpPr txBox="1"/>
          <p:nvPr/>
        </p:nvSpPr>
        <p:spPr>
          <a:xfrm>
            <a:off x="8114027" y="4873752"/>
            <a:ext cx="2066543" cy="256032"/>
          </a:xfrm>
          <a:prstGeom prst="rect">
            <a:avLst/>
          </a:prstGeom>
          <a:noFill/>
        </p:spPr>
        <p:txBody>
          <a:bodyPr wrap="square" lIns="0" tIns="0" rIns="0" bIns="0">
            <a:spAutoFit/>
          </a:bodyPr>
          <a:lstStyle/>
          <a:p>
            <a:pPr algn="ctr"/>
            <a:r>
              <a:rPr sz="1200" b="1" i="0">
                <a:solidFill>
                  <a:srgbClr val="46C2B4"/>
                </a:solidFill>
                <a:latin typeface="Eurostile"/>
              </a:rPr>
              <a:t>MASTER PANEL</a:t>
            </a:r>
          </a:p>
        </p:txBody>
      </p:sp>
      <p:sp>
        <p:nvSpPr>
          <p:cNvPr id="36" name="TextBox 35">
            <a:extLst>
              <a:ext uri="{FF2B5EF4-FFF2-40B4-BE49-F238E27FC236}">
                <a16:creationId xmlns:a16="http://schemas.microsoft.com/office/drawing/2014/main" id="{884C1E82-9C37-0554-B52C-AD001B2C09DC}"/>
              </a:ext>
            </a:extLst>
          </p:cNvPr>
          <p:cNvSpPr txBox="1"/>
          <p:nvPr/>
        </p:nvSpPr>
        <p:spPr>
          <a:xfrm>
            <a:off x="8114027" y="5129784"/>
            <a:ext cx="2066543" cy="219456"/>
          </a:xfrm>
          <a:prstGeom prst="rect">
            <a:avLst/>
          </a:prstGeom>
          <a:noFill/>
        </p:spPr>
        <p:txBody>
          <a:bodyPr wrap="square" lIns="0" tIns="0" rIns="0" bIns="0">
            <a:spAutoFit/>
          </a:bodyPr>
          <a:lstStyle/>
          <a:p>
            <a:pPr algn="ctr"/>
            <a:r>
              <a:rPr sz="950" b="0" i="0">
                <a:solidFill>
                  <a:srgbClr val="9AA5B5"/>
                </a:solidFill>
                <a:latin typeface="Eurostile"/>
              </a:rPr>
              <a:t>1,250 rows · 58 columns</a:t>
            </a:r>
          </a:p>
        </p:txBody>
      </p:sp>
      <p:sp>
        <p:nvSpPr>
          <p:cNvPr id="37" name="TextBox 36">
            <a:extLst>
              <a:ext uri="{FF2B5EF4-FFF2-40B4-BE49-F238E27FC236}">
                <a16:creationId xmlns:a16="http://schemas.microsoft.com/office/drawing/2014/main" id="{35A9AF22-1F54-FE93-730F-7E2BBB2F9E8F}"/>
              </a:ext>
            </a:extLst>
          </p:cNvPr>
          <p:cNvSpPr txBox="1"/>
          <p:nvPr/>
        </p:nvSpPr>
        <p:spPr>
          <a:xfrm>
            <a:off x="566928" y="5806440"/>
            <a:ext cx="10910952" cy="176972"/>
          </a:xfrm>
          <a:prstGeom prst="rect">
            <a:avLst/>
          </a:prstGeom>
          <a:noFill/>
        </p:spPr>
        <p:txBody>
          <a:bodyPr wrap="square" lIns="0" tIns="0" rIns="0" bIns="0" anchor="t">
            <a:spAutoFit/>
          </a:bodyPr>
          <a:lstStyle/>
          <a:p>
            <a:r>
              <a:rPr lang="en-US" sz="1150" i="1">
                <a:solidFill>
                  <a:srgbClr val="9AA5B5"/>
                </a:solidFill>
                <a:latin typeface="Eurostile"/>
              </a:rPr>
              <a:t>Data source: Kaggle</a:t>
            </a:r>
            <a:endParaRPr lang="en-US" sz="1150" b="0" i="1">
              <a:solidFill>
                <a:srgbClr val="9AA5B5"/>
              </a:solidFill>
              <a:latin typeface="Eurostil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11151B"/>
        </a:solidFill>
        <a:effectLst/>
      </p:bgPr>
    </p:bg>
    <p:spTree>
      <p:nvGrpSpPr>
        <p:cNvPr id="1" name=""/>
        <p:cNvGrpSpPr/>
        <p:nvPr/>
      </p:nvGrpSpPr>
      <p:grpSpPr>
        <a:xfrm>
          <a:off x="0" y="0"/>
          <a:ext cx="0" cy="0"/>
          <a:chOff x="0" y="0"/>
          <a:chExt cx="0" cy="0"/>
        </a:xfrm>
      </p:grpSpPr>
      <p:sp>
        <p:nvSpPr>
          <p:cNvPr id="2" name="Text 0"/>
          <p:cNvSpPr/>
          <p:nvPr/>
        </p:nvSpPr>
        <p:spPr>
          <a:xfrm>
            <a:off x="566928" y="384048"/>
            <a:ext cx="8686800" cy="237744"/>
          </a:xfrm>
          <a:prstGeom prst="rect">
            <a:avLst/>
          </a:prstGeom>
          <a:noFill/>
          <a:ln/>
        </p:spPr>
        <p:txBody>
          <a:bodyPr wrap="square" lIns="0" tIns="0" rIns="0" bIns="0" rtlCol="0" anchor="ctr"/>
          <a:lstStyle/>
          <a:p>
            <a:pPr marL="0" indent="0">
              <a:buNone/>
            </a:pPr>
            <a:r>
              <a:rPr lang="en-US" sz="1150" b="1" kern="0" spc="160">
                <a:solidFill>
                  <a:srgbClr val="7186A6"/>
                </a:solidFill>
                <a:latin typeface="Eurostile" pitchFamily="34" charset="0"/>
                <a:ea typeface="Eurostile" pitchFamily="34" charset="-122"/>
                <a:cs typeface="Eurostile" pitchFamily="34" charset="-120"/>
              </a:rPr>
              <a:t>EXPLORATORY ANALYSIS</a:t>
            </a:r>
            <a:endParaRPr lang="en-US" sz="1150"/>
          </a:p>
        </p:txBody>
      </p:sp>
      <p:sp>
        <p:nvSpPr>
          <p:cNvPr id="3" name="Text 1"/>
          <p:cNvSpPr/>
          <p:nvPr/>
        </p:nvSpPr>
        <p:spPr>
          <a:xfrm>
            <a:off x="566928" y="658368"/>
            <a:ext cx="10972800" cy="658368"/>
          </a:xfrm>
          <a:prstGeom prst="rect">
            <a:avLst/>
          </a:prstGeom>
          <a:noFill/>
          <a:ln/>
        </p:spPr>
        <p:txBody>
          <a:bodyPr wrap="square" lIns="0" tIns="0" rIns="0" bIns="0" rtlCol="0" anchor="ctr"/>
          <a:lstStyle/>
          <a:p>
            <a:r>
              <a:rPr lang="en-US" sz="3000" b="1">
                <a:solidFill>
                  <a:srgbClr val="E7EAEF"/>
                </a:solidFill>
                <a:latin typeface="Eurostile"/>
              </a:rPr>
              <a:t>Trade Grows Steadily (Most of the time)</a:t>
            </a:r>
            <a:endParaRPr lang="en-US"/>
          </a:p>
        </p:txBody>
      </p:sp>
      <p:pic>
        <p:nvPicPr>
          <p:cNvPr id="4" name="Image 0" descr="charts/global_trade.png"/>
          <p:cNvPicPr>
            <a:picLocks noChangeAspect="1"/>
          </p:cNvPicPr>
          <p:nvPr/>
        </p:nvPicPr>
        <p:blipFill>
          <a:blip r:embed="rId3"/>
          <a:stretch>
            <a:fillRect/>
          </a:stretch>
        </p:blipFill>
        <p:spPr>
          <a:xfrm>
            <a:off x="868680" y="1481328"/>
            <a:ext cx="7315200" cy="3584448"/>
          </a:xfrm>
          <a:prstGeom prst="rect">
            <a:avLst/>
          </a:prstGeom>
        </p:spPr>
      </p:pic>
      <p:sp>
        <p:nvSpPr>
          <p:cNvPr id="5" name="Shape 2"/>
          <p:cNvSpPr/>
          <p:nvPr/>
        </p:nvSpPr>
        <p:spPr>
          <a:xfrm>
            <a:off x="8366760" y="1572768"/>
            <a:ext cx="3581400" cy="1132449"/>
          </a:xfrm>
          <a:prstGeom prst="roundRect">
            <a:avLst>
              <a:gd name="adj" fmla="val 5833"/>
            </a:avLst>
          </a:prstGeom>
          <a:solidFill>
            <a:srgbClr val="171C25"/>
          </a:solidFill>
          <a:ln w="12700">
            <a:solidFill>
              <a:srgbClr val="232A34"/>
            </a:solidFill>
            <a:prstDash val="solid"/>
          </a:ln>
        </p:spPr>
        <p:txBody>
          <a:bodyPr/>
          <a:lstStyle/>
          <a:p>
            <a:endParaRPr lang="en-US"/>
          </a:p>
        </p:txBody>
      </p:sp>
      <p:sp>
        <p:nvSpPr>
          <p:cNvPr id="6" name="Text 3"/>
          <p:cNvSpPr/>
          <p:nvPr/>
        </p:nvSpPr>
        <p:spPr>
          <a:xfrm>
            <a:off x="8531352" y="1719072"/>
            <a:ext cx="2916936" cy="566928"/>
          </a:xfrm>
          <a:prstGeom prst="rect">
            <a:avLst/>
          </a:prstGeom>
          <a:noFill/>
          <a:ln/>
        </p:spPr>
        <p:txBody>
          <a:bodyPr wrap="square" lIns="0" tIns="0" rIns="0" bIns="0" rtlCol="0" anchor="ctr"/>
          <a:lstStyle/>
          <a:p>
            <a:pPr marL="0" indent="0" algn="l">
              <a:buNone/>
            </a:pPr>
            <a:r>
              <a:rPr lang="en-US" sz="2600" b="1">
                <a:solidFill>
                  <a:srgbClr val="E0973F"/>
                </a:solidFill>
                <a:latin typeface="Eurostile" pitchFamily="34" charset="0"/>
                <a:ea typeface="Eurostile" pitchFamily="34" charset="-122"/>
                <a:cs typeface="Eurostile" pitchFamily="34" charset="-120"/>
              </a:rPr>
              <a:t>+0.233</a:t>
            </a:r>
            <a:endParaRPr lang="en-US" sz="2600"/>
          </a:p>
        </p:txBody>
      </p:sp>
      <p:sp>
        <p:nvSpPr>
          <p:cNvPr id="7" name="Text 4"/>
          <p:cNvSpPr/>
          <p:nvPr/>
        </p:nvSpPr>
        <p:spPr>
          <a:xfrm>
            <a:off x="8531352" y="2286000"/>
            <a:ext cx="3264408" cy="457200"/>
          </a:xfrm>
          <a:prstGeom prst="rect">
            <a:avLst/>
          </a:prstGeom>
          <a:noFill/>
          <a:ln/>
        </p:spPr>
        <p:txBody>
          <a:bodyPr wrap="square" lIns="0" tIns="0" rIns="0" bIns="0" rtlCol="0" anchor="ctr"/>
          <a:lstStyle/>
          <a:p>
            <a:pPr marL="0" indent="0" algn="l">
              <a:buNone/>
            </a:pPr>
            <a:r>
              <a:rPr lang="en-US" sz="1100">
                <a:solidFill>
                  <a:srgbClr val="9AA5B5"/>
                </a:solidFill>
                <a:latin typeface="Eurostile"/>
                <a:ea typeface="Eurostile" pitchFamily="34" charset="-122"/>
                <a:cs typeface="Eurostile" pitchFamily="34" charset="-120"/>
              </a:rPr>
              <a:t>Supply-chain pressure vs. growth: weak and positive</a:t>
            </a:r>
            <a:endParaRPr lang="en-US" sz="1100">
              <a:latin typeface="Eurostile"/>
              <a:ea typeface="Calibri"/>
              <a:cs typeface="Calibri"/>
            </a:endParaRPr>
          </a:p>
        </p:txBody>
      </p:sp>
      <p:sp>
        <p:nvSpPr>
          <p:cNvPr id="8" name="Shape 5"/>
          <p:cNvSpPr/>
          <p:nvPr/>
        </p:nvSpPr>
        <p:spPr>
          <a:xfrm>
            <a:off x="8366760" y="2765474"/>
            <a:ext cx="3575538" cy="1155895"/>
          </a:xfrm>
          <a:prstGeom prst="roundRect">
            <a:avLst>
              <a:gd name="adj" fmla="val 5833"/>
            </a:avLst>
          </a:prstGeom>
          <a:solidFill>
            <a:srgbClr val="171C25"/>
          </a:solidFill>
          <a:ln w="12700">
            <a:solidFill>
              <a:srgbClr val="232A34"/>
            </a:solidFill>
            <a:prstDash val="solid"/>
          </a:ln>
        </p:spPr>
        <p:txBody>
          <a:bodyPr/>
          <a:lstStyle/>
          <a:p>
            <a:endParaRPr lang="en-US"/>
          </a:p>
        </p:txBody>
      </p:sp>
      <p:sp>
        <p:nvSpPr>
          <p:cNvPr id="9" name="Text 6"/>
          <p:cNvSpPr/>
          <p:nvPr/>
        </p:nvSpPr>
        <p:spPr>
          <a:xfrm>
            <a:off x="8531352" y="2935224"/>
            <a:ext cx="2916936" cy="566928"/>
          </a:xfrm>
          <a:prstGeom prst="rect">
            <a:avLst/>
          </a:prstGeom>
          <a:noFill/>
          <a:ln/>
        </p:spPr>
        <p:txBody>
          <a:bodyPr wrap="square" lIns="0" tIns="0" rIns="0" bIns="0" rtlCol="0" anchor="ctr"/>
          <a:lstStyle/>
          <a:p>
            <a:pPr marL="0" indent="0" algn="l">
              <a:buNone/>
            </a:pPr>
            <a:r>
              <a:rPr lang="en-US" sz="2600" b="1">
                <a:solidFill>
                  <a:srgbClr val="D1614B"/>
                </a:solidFill>
                <a:latin typeface="Eurostile" pitchFamily="34" charset="0"/>
                <a:ea typeface="Eurostile" pitchFamily="34" charset="-122"/>
                <a:cs typeface="Eurostile" pitchFamily="34" charset="-120"/>
              </a:rPr>
              <a:t>−68% → +217%</a:t>
            </a:r>
            <a:endParaRPr lang="en-US" sz="2600"/>
          </a:p>
        </p:txBody>
      </p:sp>
      <p:sp>
        <p:nvSpPr>
          <p:cNvPr id="10" name="Text 7"/>
          <p:cNvSpPr/>
          <p:nvPr/>
        </p:nvSpPr>
        <p:spPr>
          <a:xfrm>
            <a:off x="8531352" y="3502152"/>
            <a:ext cx="2916936" cy="457200"/>
          </a:xfrm>
          <a:prstGeom prst="rect">
            <a:avLst/>
          </a:prstGeom>
          <a:noFill/>
          <a:ln/>
        </p:spPr>
        <p:txBody>
          <a:bodyPr wrap="square" lIns="0" tIns="0" rIns="0" bIns="0" rtlCol="0" anchor="ctr"/>
          <a:lstStyle/>
          <a:p>
            <a:pPr marL="0" indent="0" algn="l">
              <a:buNone/>
            </a:pPr>
            <a:r>
              <a:rPr lang="en-US" sz="1150">
                <a:solidFill>
                  <a:srgbClr val="9AA5B5"/>
                </a:solidFill>
                <a:latin typeface="Eurostile" pitchFamily="34" charset="0"/>
                <a:ea typeface="Eurostile" pitchFamily="34" charset="-122"/>
                <a:cs typeface="Eurostile" pitchFamily="34" charset="-120"/>
              </a:rPr>
              <a:t>Russia → EU, 2022 then 2023</a:t>
            </a:r>
            <a:endParaRPr lang="en-US" sz="1150"/>
          </a:p>
        </p:txBody>
      </p:sp>
      <p:sp>
        <p:nvSpPr>
          <p:cNvPr id="14" name="Text 11"/>
          <p:cNvSpPr/>
          <p:nvPr/>
        </p:nvSpPr>
        <p:spPr>
          <a:xfrm>
            <a:off x="566928" y="5230368"/>
            <a:ext cx="10881360" cy="256032"/>
          </a:xfrm>
          <a:prstGeom prst="rect">
            <a:avLst/>
          </a:prstGeom>
          <a:noFill/>
          <a:ln/>
        </p:spPr>
        <p:txBody>
          <a:bodyPr wrap="square" lIns="0" tIns="0" rIns="0" bIns="0" rtlCol="0" anchor="ctr"/>
          <a:lstStyle/>
          <a:p>
            <a:pPr marL="0" indent="0">
              <a:buNone/>
            </a:pPr>
            <a:r>
              <a:rPr lang="en-US" sz="1100" b="1" kern="0" spc="140">
                <a:solidFill>
                  <a:srgbClr val="E0973F"/>
                </a:solidFill>
                <a:latin typeface="Eurostile" pitchFamily="34" charset="0"/>
                <a:ea typeface="Eurostile" pitchFamily="34" charset="-122"/>
                <a:cs typeface="Eurostile" pitchFamily="34" charset="-120"/>
              </a:rPr>
              <a:t>WHY THAT CORRELATION IS POSITIVE, NOT NEGATIVE</a:t>
            </a:r>
            <a:endParaRPr lang="en-US" sz="1100"/>
          </a:p>
        </p:txBody>
      </p:sp>
      <p:sp>
        <p:nvSpPr>
          <p:cNvPr id="15" name="Text 12"/>
          <p:cNvSpPr/>
          <p:nvPr/>
        </p:nvSpPr>
        <p:spPr>
          <a:xfrm>
            <a:off x="566928" y="5504688"/>
            <a:ext cx="10881360" cy="777240"/>
          </a:xfrm>
          <a:prstGeom prst="rect">
            <a:avLst/>
          </a:prstGeom>
          <a:noFill/>
          <a:ln/>
        </p:spPr>
        <p:txBody>
          <a:bodyPr wrap="square" lIns="0" tIns="0" rIns="0" bIns="0" rtlCol="0" anchor="ctr"/>
          <a:lstStyle/>
          <a:p>
            <a:r>
              <a:rPr lang="en-US" sz="1400">
                <a:solidFill>
                  <a:srgbClr val="E7EAEF"/>
                </a:solidFill>
                <a:ea typeface="+mn-lt"/>
                <a:cs typeface="+mn-lt"/>
              </a:rPr>
              <a:t>2021 had the worst congestion and the strongest growth. A global index can't tell you if one corridor is in trouble</a:t>
            </a:r>
            <a:endParaRPr lang="en-US" sz="1400">
              <a:ea typeface="+mn-lt"/>
              <a:cs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1151B"/>
        </a:solidFill>
        <a:effectLst/>
      </p:bgPr>
    </p:bg>
    <p:spTree>
      <p:nvGrpSpPr>
        <p:cNvPr id="1" name=""/>
        <p:cNvGrpSpPr/>
        <p:nvPr/>
      </p:nvGrpSpPr>
      <p:grpSpPr>
        <a:xfrm>
          <a:off x="0" y="0"/>
          <a:ext cx="0" cy="0"/>
          <a:chOff x="0" y="0"/>
          <a:chExt cx="0" cy="0"/>
        </a:xfrm>
      </p:grpSpPr>
      <p:sp>
        <p:nvSpPr>
          <p:cNvPr id="2" name="Text 0"/>
          <p:cNvSpPr/>
          <p:nvPr/>
        </p:nvSpPr>
        <p:spPr>
          <a:xfrm>
            <a:off x="566928" y="384048"/>
            <a:ext cx="8686800" cy="237744"/>
          </a:xfrm>
          <a:prstGeom prst="rect">
            <a:avLst/>
          </a:prstGeom>
          <a:noFill/>
          <a:ln/>
        </p:spPr>
        <p:txBody>
          <a:bodyPr wrap="square" lIns="0" tIns="0" rIns="0" bIns="0" rtlCol="0" anchor="ctr"/>
          <a:lstStyle/>
          <a:p>
            <a:pPr marL="0" indent="0">
              <a:buNone/>
            </a:pPr>
            <a:r>
              <a:rPr lang="en-US" sz="1150" b="1" kern="0" spc="160">
                <a:solidFill>
                  <a:srgbClr val="E0973F"/>
                </a:solidFill>
                <a:latin typeface="Eurostile" pitchFamily="34" charset="0"/>
                <a:ea typeface="Eurostile" pitchFamily="34" charset="-122"/>
                <a:cs typeface="Eurostile" pitchFamily="34" charset="-120"/>
              </a:rPr>
              <a:t>LENS 1: BACKWARD-LOOKING</a:t>
            </a:r>
            <a:endParaRPr lang="en-US" sz="1150"/>
          </a:p>
        </p:txBody>
      </p:sp>
      <p:sp>
        <p:nvSpPr>
          <p:cNvPr id="3" name="Text 1"/>
          <p:cNvSpPr/>
          <p:nvPr/>
        </p:nvSpPr>
        <p:spPr>
          <a:xfrm>
            <a:off x="566928" y="658368"/>
            <a:ext cx="10972800" cy="658368"/>
          </a:xfrm>
          <a:prstGeom prst="rect">
            <a:avLst/>
          </a:prstGeom>
          <a:noFill/>
          <a:ln/>
        </p:spPr>
        <p:txBody>
          <a:bodyPr wrap="square" lIns="0" tIns="0" rIns="0" bIns="0" rtlCol="0" anchor="ctr"/>
          <a:lstStyle/>
          <a:p>
            <a:pPr marL="0" indent="0">
              <a:buNone/>
            </a:pPr>
            <a:r>
              <a:rPr lang="en-US" sz="3000" b="1">
                <a:solidFill>
                  <a:srgbClr val="E7EAEF"/>
                </a:solidFill>
                <a:latin typeface="Eurostile" pitchFamily="34" charset="0"/>
                <a:ea typeface="Eurostile" pitchFamily="34" charset="-122"/>
                <a:cs typeface="Eurostile" pitchFamily="34" charset="-120"/>
              </a:rPr>
              <a:t>Structural exposure: which routes are fragile now</a:t>
            </a:r>
            <a:endParaRPr lang="en-US" sz="3000"/>
          </a:p>
        </p:txBody>
      </p:sp>
      <p:pic>
        <p:nvPicPr>
          <p:cNvPr id="4" name="Image 0" descr="charts/quadrant_scatter.png"/>
          <p:cNvPicPr>
            <a:picLocks noChangeAspect="1"/>
          </p:cNvPicPr>
          <p:nvPr/>
        </p:nvPicPr>
        <p:blipFill>
          <a:blip r:embed="rId3"/>
          <a:stretch>
            <a:fillRect/>
          </a:stretch>
        </p:blipFill>
        <p:spPr>
          <a:xfrm>
            <a:off x="457200" y="1417320"/>
            <a:ext cx="7726680" cy="4617720"/>
          </a:xfrm>
          <a:prstGeom prst="rect">
            <a:avLst/>
          </a:prstGeom>
        </p:spPr>
      </p:pic>
      <p:sp>
        <p:nvSpPr>
          <p:cNvPr id="5" name="Text 2"/>
          <p:cNvSpPr/>
          <p:nvPr/>
        </p:nvSpPr>
        <p:spPr>
          <a:xfrm>
            <a:off x="8366760" y="1536192"/>
            <a:ext cx="3246120" cy="320040"/>
          </a:xfrm>
          <a:prstGeom prst="rect">
            <a:avLst/>
          </a:prstGeom>
          <a:noFill/>
          <a:ln/>
        </p:spPr>
        <p:txBody>
          <a:bodyPr wrap="square" lIns="0" tIns="0" rIns="0" bIns="0" rtlCol="0" anchor="ctr"/>
          <a:lstStyle/>
          <a:p>
            <a:pPr marL="0" indent="0">
              <a:buNone/>
            </a:pPr>
            <a:r>
              <a:rPr lang="en-US" sz="1400" b="1">
                <a:solidFill>
                  <a:srgbClr val="E7EAEF"/>
                </a:solidFill>
                <a:latin typeface="Eurostile" pitchFamily="34" charset="0"/>
                <a:ea typeface="Eurostile" pitchFamily="34" charset="-122"/>
                <a:cs typeface="Eurostile" pitchFamily="34" charset="-120"/>
              </a:rPr>
              <a:t>Five binary risk flags → 0–5 score</a:t>
            </a:r>
            <a:endParaRPr lang="en-US" sz="1400"/>
          </a:p>
        </p:txBody>
      </p:sp>
      <p:sp>
        <p:nvSpPr>
          <p:cNvPr id="6" name="Text 3"/>
          <p:cNvSpPr/>
          <p:nvPr/>
        </p:nvSpPr>
        <p:spPr>
          <a:xfrm>
            <a:off x="8366760" y="1874520"/>
            <a:ext cx="3246120" cy="1051560"/>
          </a:xfrm>
          <a:prstGeom prst="rect">
            <a:avLst/>
          </a:prstGeom>
          <a:noFill/>
          <a:ln/>
        </p:spPr>
        <p:txBody>
          <a:bodyPr wrap="square" lIns="0" tIns="0" rIns="0" bIns="0" rtlCol="0" anchor="ctr"/>
          <a:lstStyle/>
          <a:p>
            <a:pPr marL="0" indent="0">
              <a:buNone/>
            </a:pPr>
            <a:r>
              <a:rPr lang="en-US" sz="1200">
                <a:solidFill>
                  <a:srgbClr val="9AA5B5"/>
                </a:solidFill>
                <a:latin typeface="Eurostile" pitchFamily="34" charset="0"/>
                <a:ea typeface="Eurostile" pitchFamily="34" charset="-122"/>
                <a:cs typeface="Eurostile" pitchFamily="34" charset="-120"/>
              </a:rPr>
              <a:t>Negative growth · negative momentum · high volatility · high concentration · high industry vulnerability. Thresholds are data-driven percentiles, not hand-picked.</a:t>
            </a:r>
            <a:endParaRPr lang="en-US" sz="1200"/>
          </a:p>
        </p:txBody>
      </p:sp>
      <p:sp>
        <p:nvSpPr>
          <p:cNvPr id="7" name="Shape 4"/>
          <p:cNvSpPr/>
          <p:nvPr/>
        </p:nvSpPr>
        <p:spPr>
          <a:xfrm>
            <a:off x="8366760" y="3063240"/>
            <a:ext cx="3246120" cy="475488"/>
          </a:xfrm>
          <a:prstGeom prst="roundRect">
            <a:avLst>
              <a:gd name="adj" fmla="val 9615"/>
            </a:avLst>
          </a:prstGeom>
          <a:solidFill>
            <a:srgbClr val="171C25"/>
          </a:solidFill>
          <a:ln w="12700">
            <a:solidFill>
              <a:srgbClr val="232A34"/>
            </a:solidFill>
            <a:prstDash val="solid"/>
          </a:ln>
        </p:spPr>
        <p:txBody>
          <a:bodyPr/>
          <a:lstStyle/>
          <a:p>
            <a:endParaRPr lang="en-US"/>
          </a:p>
        </p:txBody>
      </p:sp>
      <p:sp>
        <p:nvSpPr>
          <p:cNvPr id="8" name="Shape 5"/>
          <p:cNvSpPr/>
          <p:nvPr/>
        </p:nvSpPr>
        <p:spPr>
          <a:xfrm>
            <a:off x="8513064" y="3236976"/>
            <a:ext cx="137160" cy="137160"/>
          </a:xfrm>
          <a:prstGeom prst="ellipse">
            <a:avLst/>
          </a:prstGeom>
          <a:solidFill>
            <a:srgbClr val="7186A6"/>
          </a:solidFill>
          <a:ln/>
        </p:spPr>
        <p:txBody>
          <a:bodyPr/>
          <a:lstStyle/>
          <a:p>
            <a:endParaRPr lang="en-US"/>
          </a:p>
        </p:txBody>
      </p:sp>
      <p:sp>
        <p:nvSpPr>
          <p:cNvPr id="9" name="Text 6"/>
          <p:cNvSpPr/>
          <p:nvPr/>
        </p:nvSpPr>
        <p:spPr>
          <a:xfrm>
            <a:off x="8750808" y="3154680"/>
            <a:ext cx="2331720" cy="292608"/>
          </a:xfrm>
          <a:prstGeom prst="rect">
            <a:avLst/>
          </a:prstGeom>
          <a:noFill/>
          <a:ln/>
        </p:spPr>
        <p:txBody>
          <a:bodyPr wrap="square" lIns="0" tIns="0" rIns="0" bIns="0" rtlCol="0" anchor="ctr"/>
          <a:lstStyle/>
          <a:p>
            <a:pPr marL="0" indent="0">
              <a:buNone/>
            </a:pPr>
            <a:r>
              <a:rPr lang="en-US" sz="1250">
                <a:solidFill>
                  <a:srgbClr val="E7EAEF"/>
                </a:solidFill>
                <a:latin typeface="Eurostile" pitchFamily="34" charset="0"/>
                <a:ea typeface="Eurostile" pitchFamily="34" charset="-122"/>
                <a:cs typeface="Eurostile" pitchFamily="34" charset="-120"/>
              </a:rPr>
              <a:t>Core Stable</a:t>
            </a:r>
            <a:endParaRPr lang="en-US" sz="1250"/>
          </a:p>
        </p:txBody>
      </p:sp>
      <p:sp>
        <p:nvSpPr>
          <p:cNvPr id="10" name="Text 7"/>
          <p:cNvSpPr/>
          <p:nvPr/>
        </p:nvSpPr>
        <p:spPr>
          <a:xfrm>
            <a:off x="11045952" y="3136392"/>
            <a:ext cx="411480" cy="329184"/>
          </a:xfrm>
          <a:prstGeom prst="rect">
            <a:avLst/>
          </a:prstGeom>
          <a:noFill/>
          <a:ln/>
        </p:spPr>
        <p:txBody>
          <a:bodyPr wrap="square" lIns="0" tIns="0" rIns="0" bIns="0" rtlCol="0" anchor="ctr"/>
          <a:lstStyle/>
          <a:p>
            <a:pPr marL="0" indent="0" algn="r">
              <a:buNone/>
            </a:pPr>
            <a:r>
              <a:rPr lang="en-US" sz="1500" b="1">
                <a:solidFill>
                  <a:srgbClr val="7186A6"/>
                </a:solidFill>
                <a:latin typeface="Eurostile" pitchFamily="34" charset="0"/>
                <a:ea typeface="Eurostile" pitchFamily="34" charset="-122"/>
                <a:cs typeface="Eurostile" pitchFamily="34" charset="-120"/>
              </a:rPr>
              <a:t>8</a:t>
            </a:r>
            <a:endParaRPr lang="en-US" sz="1500"/>
          </a:p>
        </p:txBody>
      </p:sp>
      <p:sp>
        <p:nvSpPr>
          <p:cNvPr id="11" name="Shape 8"/>
          <p:cNvSpPr/>
          <p:nvPr/>
        </p:nvSpPr>
        <p:spPr>
          <a:xfrm>
            <a:off x="8366760" y="3630168"/>
            <a:ext cx="3246120" cy="475488"/>
          </a:xfrm>
          <a:prstGeom prst="roundRect">
            <a:avLst>
              <a:gd name="adj" fmla="val 9615"/>
            </a:avLst>
          </a:prstGeom>
          <a:solidFill>
            <a:srgbClr val="171C25"/>
          </a:solidFill>
          <a:ln w="12700">
            <a:solidFill>
              <a:srgbClr val="232A34"/>
            </a:solidFill>
            <a:prstDash val="solid"/>
          </a:ln>
        </p:spPr>
        <p:txBody>
          <a:bodyPr/>
          <a:lstStyle/>
          <a:p>
            <a:endParaRPr lang="en-US"/>
          </a:p>
        </p:txBody>
      </p:sp>
      <p:sp>
        <p:nvSpPr>
          <p:cNvPr id="12" name="Shape 9"/>
          <p:cNvSpPr/>
          <p:nvPr/>
        </p:nvSpPr>
        <p:spPr>
          <a:xfrm>
            <a:off x="8513064" y="3803904"/>
            <a:ext cx="137160" cy="137160"/>
          </a:xfrm>
          <a:prstGeom prst="ellipse">
            <a:avLst/>
          </a:prstGeom>
          <a:solidFill>
            <a:srgbClr val="E0973F"/>
          </a:solidFill>
          <a:ln/>
        </p:spPr>
        <p:txBody>
          <a:bodyPr/>
          <a:lstStyle/>
          <a:p>
            <a:endParaRPr lang="en-US"/>
          </a:p>
        </p:txBody>
      </p:sp>
      <p:sp>
        <p:nvSpPr>
          <p:cNvPr id="13" name="Text 10"/>
          <p:cNvSpPr/>
          <p:nvPr/>
        </p:nvSpPr>
        <p:spPr>
          <a:xfrm>
            <a:off x="8750808" y="3721608"/>
            <a:ext cx="2331720" cy="292608"/>
          </a:xfrm>
          <a:prstGeom prst="rect">
            <a:avLst/>
          </a:prstGeom>
          <a:noFill/>
          <a:ln/>
        </p:spPr>
        <p:txBody>
          <a:bodyPr wrap="square" lIns="0" tIns="0" rIns="0" bIns="0" rtlCol="0" anchor="ctr"/>
          <a:lstStyle/>
          <a:p>
            <a:pPr marL="0" indent="0">
              <a:buNone/>
            </a:pPr>
            <a:r>
              <a:rPr lang="en-US" sz="1250">
                <a:solidFill>
                  <a:srgbClr val="E7EAEF"/>
                </a:solidFill>
                <a:latin typeface="Eurostile" pitchFamily="34" charset="0"/>
                <a:ea typeface="Eurostile" pitchFamily="34" charset="-122"/>
                <a:cs typeface="Eurostile" pitchFamily="34" charset="-120"/>
              </a:rPr>
              <a:t>Elevated Exposure</a:t>
            </a:r>
            <a:endParaRPr lang="en-US" sz="1250"/>
          </a:p>
        </p:txBody>
      </p:sp>
      <p:sp>
        <p:nvSpPr>
          <p:cNvPr id="14" name="Text 11"/>
          <p:cNvSpPr/>
          <p:nvPr/>
        </p:nvSpPr>
        <p:spPr>
          <a:xfrm>
            <a:off x="11045952" y="3703320"/>
            <a:ext cx="411480" cy="329184"/>
          </a:xfrm>
          <a:prstGeom prst="rect">
            <a:avLst/>
          </a:prstGeom>
          <a:noFill/>
          <a:ln/>
        </p:spPr>
        <p:txBody>
          <a:bodyPr wrap="square" lIns="0" tIns="0" rIns="0" bIns="0" rtlCol="0" anchor="ctr"/>
          <a:lstStyle/>
          <a:p>
            <a:pPr marL="0" indent="0" algn="r">
              <a:buNone/>
            </a:pPr>
            <a:r>
              <a:rPr lang="en-US" sz="1500" b="1">
                <a:solidFill>
                  <a:srgbClr val="E0973F"/>
                </a:solidFill>
                <a:latin typeface="Eurostile" pitchFamily="34" charset="0"/>
                <a:ea typeface="Eurostile" pitchFamily="34" charset="-122"/>
                <a:cs typeface="Eurostile" pitchFamily="34" charset="-120"/>
              </a:rPr>
              <a:t>22</a:t>
            </a:r>
            <a:endParaRPr lang="en-US" sz="1500"/>
          </a:p>
        </p:txBody>
      </p:sp>
      <p:sp>
        <p:nvSpPr>
          <p:cNvPr id="15" name="Shape 12"/>
          <p:cNvSpPr/>
          <p:nvPr/>
        </p:nvSpPr>
        <p:spPr>
          <a:xfrm>
            <a:off x="8366760" y="4197096"/>
            <a:ext cx="3246120" cy="475488"/>
          </a:xfrm>
          <a:prstGeom prst="roundRect">
            <a:avLst>
              <a:gd name="adj" fmla="val 9615"/>
            </a:avLst>
          </a:prstGeom>
          <a:solidFill>
            <a:srgbClr val="171C25"/>
          </a:solidFill>
          <a:ln w="12700">
            <a:solidFill>
              <a:srgbClr val="232A34"/>
            </a:solidFill>
            <a:prstDash val="solid"/>
          </a:ln>
        </p:spPr>
        <p:txBody>
          <a:bodyPr/>
          <a:lstStyle/>
          <a:p>
            <a:endParaRPr lang="en-US"/>
          </a:p>
        </p:txBody>
      </p:sp>
      <p:sp>
        <p:nvSpPr>
          <p:cNvPr id="16" name="Shape 13"/>
          <p:cNvSpPr/>
          <p:nvPr/>
        </p:nvSpPr>
        <p:spPr>
          <a:xfrm>
            <a:off x="8513064" y="4370832"/>
            <a:ext cx="137160" cy="137160"/>
          </a:xfrm>
          <a:prstGeom prst="ellipse">
            <a:avLst/>
          </a:prstGeom>
          <a:solidFill>
            <a:srgbClr val="7BBF8A"/>
          </a:solidFill>
          <a:ln/>
        </p:spPr>
        <p:txBody>
          <a:bodyPr/>
          <a:lstStyle/>
          <a:p>
            <a:endParaRPr lang="en-US"/>
          </a:p>
        </p:txBody>
      </p:sp>
      <p:sp>
        <p:nvSpPr>
          <p:cNvPr id="17" name="Text 14"/>
          <p:cNvSpPr/>
          <p:nvPr/>
        </p:nvSpPr>
        <p:spPr>
          <a:xfrm>
            <a:off x="8750808" y="4288536"/>
            <a:ext cx="2331720" cy="292608"/>
          </a:xfrm>
          <a:prstGeom prst="rect">
            <a:avLst/>
          </a:prstGeom>
          <a:noFill/>
          <a:ln/>
        </p:spPr>
        <p:txBody>
          <a:bodyPr wrap="square" lIns="0" tIns="0" rIns="0" bIns="0" rtlCol="0" anchor="ctr"/>
          <a:lstStyle/>
          <a:p>
            <a:pPr marL="0" indent="0">
              <a:buNone/>
            </a:pPr>
            <a:r>
              <a:rPr lang="en-US" sz="1250">
                <a:solidFill>
                  <a:srgbClr val="E7EAEF"/>
                </a:solidFill>
                <a:latin typeface="Eurostile" pitchFamily="34" charset="0"/>
                <a:ea typeface="Eurostile" pitchFamily="34" charset="-122"/>
                <a:cs typeface="Eurostile" pitchFamily="34" charset="-120"/>
              </a:rPr>
              <a:t>Lower-Risk Opportunity</a:t>
            </a:r>
            <a:endParaRPr lang="en-US" sz="1250"/>
          </a:p>
        </p:txBody>
      </p:sp>
      <p:sp>
        <p:nvSpPr>
          <p:cNvPr id="18" name="Text 15"/>
          <p:cNvSpPr/>
          <p:nvPr/>
        </p:nvSpPr>
        <p:spPr>
          <a:xfrm>
            <a:off x="11045952" y="4270248"/>
            <a:ext cx="411480" cy="329184"/>
          </a:xfrm>
          <a:prstGeom prst="rect">
            <a:avLst/>
          </a:prstGeom>
          <a:noFill/>
          <a:ln/>
        </p:spPr>
        <p:txBody>
          <a:bodyPr wrap="square" lIns="0" tIns="0" rIns="0" bIns="0" rtlCol="0" anchor="ctr"/>
          <a:lstStyle/>
          <a:p>
            <a:pPr marL="0" indent="0" algn="r">
              <a:buNone/>
            </a:pPr>
            <a:r>
              <a:rPr lang="en-US" sz="1500" b="1">
                <a:solidFill>
                  <a:srgbClr val="7BBF8A"/>
                </a:solidFill>
                <a:latin typeface="Eurostile" pitchFamily="34" charset="0"/>
                <a:ea typeface="Eurostile" pitchFamily="34" charset="-122"/>
                <a:cs typeface="Eurostile" pitchFamily="34" charset="-120"/>
              </a:rPr>
              <a:t>17</a:t>
            </a:r>
            <a:endParaRPr lang="en-US" sz="1500"/>
          </a:p>
        </p:txBody>
      </p:sp>
      <p:sp>
        <p:nvSpPr>
          <p:cNvPr id="19" name="Shape 16"/>
          <p:cNvSpPr/>
          <p:nvPr/>
        </p:nvSpPr>
        <p:spPr>
          <a:xfrm>
            <a:off x="8366760" y="4764024"/>
            <a:ext cx="3246120" cy="475488"/>
          </a:xfrm>
          <a:prstGeom prst="roundRect">
            <a:avLst>
              <a:gd name="adj" fmla="val 9615"/>
            </a:avLst>
          </a:prstGeom>
          <a:solidFill>
            <a:srgbClr val="171C25"/>
          </a:solidFill>
          <a:ln w="12700">
            <a:solidFill>
              <a:srgbClr val="232A34"/>
            </a:solidFill>
            <a:prstDash val="solid"/>
          </a:ln>
        </p:spPr>
        <p:txBody>
          <a:bodyPr/>
          <a:lstStyle/>
          <a:p>
            <a:endParaRPr lang="en-US"/>
          </a:p>
        </p:txBody>
      </p:sp>
      <p:sp>
        <p:nvSpPr>
          <p:cNvPr id="20" name="Shape 17"/>
          <p:cNvSpPr/>
          <p:nvPr/>
        </p:nvSpPr>
        <p:spPr>
          <a:xfrm>
            <a:off x="8513064" y="4937760"/>
            <a:ext cx="137160" cy="137160"/>
          </a:xfrm>
          <a:prstGeom prst="ellipse">
            <a:avLst/>
          </a:prstGeom>
          <a:solidFill>
            <a:srgbClr val="D1614B"/>
          </a:solidFill>
          <a:ln/>
        </p:spPr>
        <p:txBody>
          <a:bodyPr/>
          <a:lstStyle/>
          <a:p>
            <a:endParaRPr lang="en-US"/>
          </a:p>
        </p:txBody>
      </p:sp>
      <p:sp>
        <p:nvSpPr>
          <p:cNvPr id="21" name="Text 18"/>
          <p:cNvSpPr/>
          <p:nvPr/>
        </p:nvSpPr>
        <p:spPr>
          <a:xfrm>
            <a:off x="8750808" y="4855464"/>
            <a:ext cx="2331720" cy="292608"/>
          </a:xfrm>
          <a:prstGeom prst="rect">
            <a:avLst/>
          </a:prstGeom>
          <a:noFill/>
          <a:ln/>
        </p:spPr>
        <p:txBody>
          <a:bodyPr wrap="square" lIns="0" tIns="0" rIns="0" bIns="0" rtlCol="0" anchor="ctr"/>
          <a:lstStyle/>
          <a:p>
            <a:pPr marL="0" indent="0">
              <a:buNone/>
            </a:pPr>
            <a:r>
              <a:rPr lang="en-US" sz="1250">
                <a:solidFill>
                  <a:srgbClr val="E7EAEF"/>
                </a:solidFill>
                <a:latin typeface="Eurostile" pitchFamily="34" charset="0"/>
                <a:ea typeface="Eurostile" pitchFamily="34" charset="-122"/>
                <a:cs typeface="Eurostile" pitchFamily="34" charset="-120"/>
              </a:rPr>
              <a:t>Strategic Exposure</a:t>
            </a:r>
            <a:endParaRPr lang="en-US" sz="1250"/>
          </a:p>
        </p:txBody>
      </p:sp>
      <p:sp>
        <p:nvSpPr>
          <p:cNvPr id="22" name="Text 19"/>
          <p:cNvSpPr/>
          <p:nvPr/>
        </p:nvSpPr>
        <p:spPr>
          <a:xfrm>
            <a:off x="11045952" y="4837176"/>
            <a:ext cx="411480" cy="329184"/>
          </a:xfrm>
          <a:prstGeom prst="rect">
            <a:avLst/>
          </a:prstGeom>
          <a:noFill/>
          <a:ln/>
        </p:spPr>
        <p:txBody>
          <a:bodyPr wrap="square" lIns="0" tIns="0" rIns="0" bIns="0" rtlCol="0" anchor="ctr"/>
          <a:lstStyle/>
          <a:p>
            <a:pPr marL="0" indent="0" algn="r">
              <a:buNone/>
            </a:pPr>
            <a:r>
              <a:rPr lang="en-US" sz="1500" b="1">
                <a:solidFill>
                  <a:srgbClr val="D1614B"/>
                </a:solidFill>
                <a:latin typeface="Eurostile" pitchFamily="34" charset="0"/>
                <a:ea typeface="Eurostile" pitchFamily="34" charset="-122"/>
                <a:cs typeface="Eurostile" pitchFamily="34" charset="-120"/>
              </a:rPr>
              <a:t>3</a:t>
            </a:r>
            <a:endParaRPr lang="en-US" sz="1500"/>
          </a:p>
        </p:txBody>
      </p:sp>
      <p:sp>
        <p:nvSpPr>
          <p:cNvPr id="23" name="Text 20"/>
          <p:cNvSpPr/>
          <p:nvPr/>
        </p:nvSpPr>
        <p:spPr>
          <a:xfrm>
            <a:off x="8366760" y="5440680"/>
            <a:ext cx="3246120" cy="731520"/>
          </a:xfrm>
          <a:prstGeom prst="rect">
            <a:avLst/>
          </a:prstGeom>
          <a:noFill/>
          <a:ln/>
        </p:spPr>
        <p:txBody>
          <a:bodyPr wrap="square" lIns="0" tIns="0" rIns="0" bIns="0" rtlCol="0" anchor="ctr"/>
          <a:lstStyle/>
          <a:p>
            <a:pPr marL="0" indent="0">
              <a:buNone/>
            </a:pPr>
            <a:r>
              <a:rPr lang="en-US" sz="1250" b="1">
                <a:solidFill>
                  <a:srgbClr val="D1614B"/>
                </a:solidFill>
                <a:latin typeface="Eurostile" pitchFamily="34" charset="0"/>
                <a:ea typeface="Eurostile" pitchFamily="34" charset="-122"/>
                <a:cs typeface="Eurostile" pitchFamily="34" charset="-120"/>
              </a:rPr>
              <a:t>3 of 50 corridors are both systemically important AND structurally risky. $401B of trade.</a:t>
            </a:r>
            <a:endParaRPr lang="en-US" sz="12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11151B"/>
        </a:solidFill>
        <a:effectLst/>
      </p:bgPr>
    </p:bg>
    <p:spTree>
      <p:nvGrpSpPr>
        <p:cNvPr id="1" name=""/>
        <p:cNvGrpSpPr/>
        <p:nvPr/>
      </p:nvGrpSpPr>
      <p:grpSpPr>
        <a:xfrm>
          <a:off x="0" y="0"/>
          <a:ext cx="0" cy="0"/>
          <a:chOff x="0" y="0"/>
          <a:chExt cx="0" cy="0"/>
        </a:xfrm>
      </p:grpSpPr>
      <p:sp>
        <p:nvSpPr>
          <p:cNvPr id="2" name="Text 0"/>
          <p:cNvSpPr/>
          <p:nvPr/>
        </p:nvSpPr>
        <p:spPr>
          <a:xfrm>
            <a:off x="566928" y="384048"/>
            <a:ext cx="8686800" cy="237744"/>
          </a:xfrm>
          <a:prstGeom prst="rect">
            <a:avLst/>
          </a:prstGeom>
          <a:noFill/>
          <a:ln/>
        </p:spPr>
        <p:txBody>
          <a:bodyPr wrap="square" lIns="0" tIns="0" rIns="0" bIns="0" rtlCol="0" anchor="ctr"/>
          <a:lstStyle/>
          <a:p>
            <a:pPr marL="0" indent="0">
              <a:buNone/>
            </a:pPr>
            <a:r>
              <a:rPr lang="en-US" sz="1150" b="1" kern="0" spc="160">
                <a:solidFill>
                  <a:srgbClr val="46C2B4"/>
                </a:solidFill>
                <a:latin typeface="Eurostile" pitchFamily="34" charset="0"/>
                <a:ea typeface="Eurostile" pitchFamily="34" charset="-122"/>
                <a:cs typeface="Eurostile" pitchFamily="34" charset="-120"/>
              </a:rPr>
              <a:t>LENS 2: FORWARD-LOOKING</a:t>
            </a:r>
            <a:endParaRPr lang="en-US" sz="1150"/>
          </a:p>
        </p:txBody>
      </p:sp>
      <p:sp>
        <p:nvSpPr>
          <p:cNvPr id="3" name="Text 1"/>
          <p:cNvSpPr/>
          <p:nvPr/>
        </p:nvSpPr>
        <p:spPr>
          <a:xfrm>
            <a:off x="566928" y="658368"/>
            <a:ext cx="10972800" cy="658368"/>
          </a:xfrm>
          <a:prstGeom prst="rect">
            <a:avLst/>
          </a:prstGeom>
          <a:noFill/>
          <a:ln/>
        </p:spPr>
        <p:txBody>
          <a:bodyPr wrap="square" lIns="0" tIns="0" rIns="0" bIns="0" rtlCol="0" anchor="ctr"/>
          <a:lstStyle/>
          <a:p>
            <a:pPr marL="0" indent="0">
              <a:buNone/>
            </a:pPr>
            <a:r>
              <a:rPr lang="en-US" sz="3000" b="1">
                <a:solidFill>
                  <a:srgbClr val="E7EAEF"/>
                </a:solidFill>
                <a:latin typeface="Eurostile" pitchFamily="34" charset="0"/>
                <a:ea typeface="Eurostile" pitchFamily="34" charset="-122"/>
                <a:cs typeface="Eurostile" pitchFamily="34" charset="-120"/>
              </a:rPr>
              <a:t>Growth direction: 47% better than the baseline</a:t>
            </a:r>
            <a:endParaRPr lang="en-US" sz="3000"/>
          </a:p>
        </p:txBody>
      </p:sp>
      <p:sp>
        <p:nvSpPr>
          <p:cNvPr id="5" name="Shape 2"/>
          <p:cNvSpPr/>
          <p:nvPr/>
        </p:nvSpPr>
        <p:spPr>
          <a:xfrm>
            <a:off x="566928" y="1572768"/>
            <a:ext cx="2834640" cy="1143000"/>
          </a:xfrm>
          <a:prstGeom prst="roundRect">
            <a:avLst>
              <a:gd name="adj" fmla="val 5600"/>
            </a:avLst>
          </a:prstGeom>
          <a:solidFill>
            <a:srgbClr val="171C25"/>
          </a:solidFill>
          <a:ln w="12700">
            <a:solidFill>
              <a:srgbClr val="232A34"/>
            </a:solidFill>
            <a:prstDash val="solid"/>
          </a:ln>
        </p:spPr>
        <p:txBody>
          <a:bodyPr/>
          <a:lstStyle/>
          <a:p>
            <a:endParaRPr lang="en-US"/>
          </a:p>
        </p:txBody>
      </p:sp>
      <p:sp>
        <p:nvSpPr>
          <p:cNvPr id="6" name="Text 3"/>
          <p:cNvSpPr/>
          <p:nvPr/>
        </p:nvSpPr>
        <p:spPr>
          <a:xfrm>
            <a:off x="731520" y="1719072"/>
            <a:ext cx="2505456" cy="566928"/>
          </a:xfrm>
          <a:prstGeom prst="rect">
            <a:avLst/>
          </a:prstGeom>
          <a:noFill/>
          <a:ln/>
        </p:spPr>
        <p:txBody>
          <a:bodyPr wrap="square" lIns="0" tIns="0" rIns="0" bIns="0" rtlCol="0" anchor="ctr"/>
          <a:lstStyle/>
          <a:p>
            <a:pPr marL="0" indent="0" algn="l">
              <a:buNone/>
            </a:pPr>
            <a:r>
              <a:rPr lang="en-US" sz="2600" b="1">
                <a:solidFill>
                  <a:srgbClr val="46C2B4"/>
                </a:solidFill>
                <a:latin typeface="Eurostile" pitchFamily="34" charset="0"/>
                <a:ea typeface="Eurostile" pitchFamily="34" charset="-122"/>
                <a:cs typeface="Eurostile" pitchFamily="34" charset="-120"/>
              </a:rPr>
              <a:t>6.75</a:t>
            </a:r>
            <a:endParaRPr lang="en-US" sz="2600"/>
          </a:p>
        </p:txBody>
      </p:sp>
      <p:sp>
        <p:nvSpPr>
          <p:cNvPr id="7" name="Text 4"/>
          <p:cNvSpPr/>
          <p:nvPr/>
        </p:nvSpPr>
        <p:spPr>
          <a:xfrm>
            <a:off x="731520" y="2286000"/>
            <a:ext cx="2505456" cy="457200"/>
          </a:xfrm>
          <a:prstGeom prst="rect">
            <a:avLst/>
          </a:prstGeom>
          <a:noFill/>
          <a:ln/>
        </p:spPr>
        <p:txBody>
          <a:bodyPr wrap="square" lIns="0" tIns="0" rIns="0" bIns="0" rtlCol="0" anchor="ctr"/>
          <a:lstStyle/>
          <a:p>
            <a:pPr marL="0" indent="0" algn="l">
              <a:buNone/>
            </a:pPr>
            <a:r>
              <a:rPr lang="en-US" sz="1150">
                <a:solidFill>
                  <a:srgbClr val="9AA5B5"/>
                </a:solidFill>
                <a:latin typeface="Eurostile" pitchFamily="34" charset="0"/>
                <a:ea typeface="Eurostile" pitchFamily="34" charset="-122"/>
                <a:cs typeface="Eurostile" pitchFamily="34" charset="-120"/>
              </a:rPr>
              <a:t>Test MAE vs. 12.71 naive baseline</a:t>
            </a:r>
            <a:endParaRPr lang="en-US" sz="1150"/>
          </a:p>
        </p:txBody>
      </p:sp>
      <p:sp>
        <p:nvSpPr>
          <p:cNvPr id="8" name="Shape 5"/>
          <p:cNvSpPr/>
          <p:nvPr/>
        </p:nvSpPr>
        <p:spPr>
          <a:xfrm>
            <a:off x="3602736" y="1572768"/>
            <a:ext cx="2834640" cy="1143000"/>
          </a:xfrm>
          <a:prstGeom prst="roundRect">
            <a:avLst>
              <a:gd name="adj" fmla="val 5600"/>
            </a:avLst>
          </a:prstGeom>
          <a:solidFill>
            <a:srgbClr val="171C25"/>
          </a:solidFill>
          <a:ln w="12700">
            <a:solidFill>
              <a:srgbClr val="232A34"/>
            </a:solidFill>
            <a:prstDash val="solid"/>
          </a:ln>
        </p:spPr>
        <p:txBody>
          <a:bodyPr/>
          <a:lstStyle/>
          <a:p>
            <a:endParaRPr lang="en-US"/>
          </a:p>
        </p:txBody>
      </p:sp>
      <p:sp>
        <p:nvSpPr>
          <p:cNvPr id="9" name="Text 6"/>
          <p:cNvSpPr/>
          <p:nvPr/>
        </p:nvSpPr>
        <p:spPr>
          <a:xfrm>
            <a:off x="3767328" y="1719072"/>
            <a:ext cx="2505456" cy="566928"/>
          </a:xfrm>
          <a:prstGeom prst="rect">
            <a:avLst/>
          </a:prstGeom>
          <a:noFill/>
          <a:ln/>
        </p:spPr>
        <p:txBody>
          <a:bodyPr wrap="square" lIns="0" tIns="0" rIns="0" bIns="0" rtlCol="0" anchor="ctr"/>
          <a:lstStyle/>
          <a:p>
            <a:pPr marL="0" indent="0" algn="l">
              <a:buNone/>
            </a:pPr>
            <a:r>
              <a:rPr lang="en-US" sz="2600" b="1">
                <a:solidFill>
                  <a:srgbClr val="46C2B4"/>
                </a:solidFill>
                <a:latin typeface="Eurostile" pitchFamily="34" charset="0"/>
                <a:ea typeface="Eurostile" pitchFamily="34" charset="-122"/>
                <a:cs typeface="Eurostile" pitchFamily="34" charset="-120"/>
              </a:rPr>
              <a:t>60%</a:t>
            </a:r>
            <a:endParaRPr lang="en-US" sz="2600"/>
          </a:p>
        </p:txBody>
      </p:sp>
      <p:sp>
        <p:nvSpPr>
          <p:cNvPr id="10" name="Text 7"/>
          <p:cNvSpPr/>
          <p:nvPr/>
        </p:nvSpPr>
        <p:spPr>
          <a:xfrm>
            <a:off x="3767328" y="2286000"/>
            <a:ext cx="2505456" cy="457200"/>
          </a:xfrm>
          <a:prstGeom prst="rect">
            <a:avLst/>
          </a:prstGeom>
          <a:noFill/>
          <a:ln/>
        </p:spPr>
        <p:txBody>
          <a:bodyPr wrap="square" lIns="0" tIns="0" rIns="0" bIns="0" rtlCol="0" anchor="ctr"/>
          <a:lstStyle/>
          <a:p>
            <a:pPr marL="0" indent="0" algn="l">
              <a:buNone/>
            </a:pPr>
            <a:r>
              <a:rPr lang="en-US" sz="1150">
                <a:solidFill>
                  <a:srgbClr val="9AA5B5"/>
                </a:solidFill>
                <a:latin typeface="Eurostile" pitchFamily="34" charset="0"/>
                <a:ea typeface="Eurostile" pitchFamily="34" charset="-122"/>
                <a:cs typeface="Eurostile" pitchFamily="34" charset="-120"/>
              </a:rPr>
              <a:t>Directional accuracy on test set</a:t>
            </a:r>
            <a:endParaRPr lang="en-US" sz="1150"/>
          </a:p>
        </p:txBody>
      </p:sp>
      <p:sp>
        <p:nvSpPr>
          <p:cNvPr id="11" name="Text 8"/>
          <p:cNvSpPr/>
          <p:nvPr/>
        </p:nvSpPr>
        <p:spPr>
          <a:xfrm>
            <a:off x="566928" y="2971800"/>
            <a:ext cx="5821236" cy="1393499"/>
          </a:xfrm>
          <a:prstGeom prst="rect">
            <a:avLst/>
          </a:prstGeom>
          <a:noFill/>
          <a:ln/>
        </p:spPr>
        <p:txBody>
          <a:bodyPr wrap="square" lIns="0" tIns="0" rIns="0" bIns="0" rtlCol="0" anchor="ctr"/>
          <a:lstStyle/>
          <a:p>
            <a:pPr marL="177800" indent="-177800">
              <a:lnSpc>
                <a:spcPts val="2100"/>
              </a:lnSpc>
              <a:spcAft>
                <a:spcPts val="1100"/>
              </a:spcAft>
              <a:buSzPct val="100000"/>
              <a:buChar char="•"/>
            </a:pPr>
            <a:r>
              <a:rPr lang="en-US" sz="1400" b="1">
                <a:solidFill>
                  <a:srgbClr val="E7EAEF"/>
                </a:solidFill>
                <a:latin typeface="Eurostile"/>
                <a:ea typeface="Eurostile" pitchFamily="34" charset="-122"/>
                <a:cs typeface="Eurostile" pitchFamily="34" charset="-120"/>
              </a:rPr>
              <a:t>Which model won? </a:t>
            </a:r>
            <a:r>
              <a:rPr lang="en-US" b="1">
                <a:solidFill>
                  <a:schemeClr val="accent1"/>
                </a:solidFill>
                <a:latin typeface="Eurostile"/>
                <a:ea typeface="Eurostile" pitchFamily="34" charset="-122"/>
                <a:cs typeface="Eurostile" pitchFamily="34" charset="-120"/>
              </a:rPr>
              <a:t>Gradient Boosting</a:t>
            </a:r>
            <a:r>
              <a:rPr lang="en-US" sz="1400">
                <a:solidFill>
                  <a:srgbClr val="E7EAEF"/>
                </a:solidFill>
                <a:latin typeface="Eurostile"/>
                <a:ea typeface="Eurostile" pitchFamily="34" charset="-122"/>
                <a:cs typeface="Eurostile" pitchFamily="34" charset="-120"/>
              </a:rPr>
              <a:t> beat Ridge, Random Forest and a naive "next year repeats this year" baseline</a:t>
            </a:r>
            <a:endParaRPr lang="en-US" sz="1400">
              <a:latin typeface="Eurostile"/>
              <a:ea typeface="Calibri"/>
              <a:cs typeface="Calibri"/>
            </a:endParaRPr>
          </a:p>
          <a:p>
            <a:pPr marL="177800" indent="-177800">
              <a:lnSpc>
                <a:spcPts val="2100"/>
              </a:lnSpc>
              <a:spcAft>
                <a:spcPts val="1100"/>
              </a:spcAft>
              <a:buSzPct val="100000"/>
              <a:buFont typeface="Arial"/>
              <a:buChar char="•"/>
            </a:pPr>
            <a:r>
              <a:rPr lang="en-US" sz="1400" u="sng">
                <a:solidFill>
                  <a:srgbClr val="E7EAEF"/>
                </a:solidFill>
                <a:latin typeface="Eurostile"/>
                <a:ea typeface="Eurostile" pitchFamily="34" charset="-122"/>
                <a:cs typeface="Eurostile" pitchFamily="34" charset="-120"/>
              </a:rPr>
              <a:t>Each route's own recent history</a:t>
            </a:r>
            <a:r>
              <a:rPr lang="en-US" sz="1400">
                <a:solidFill>
                  <a:srgbClr val="E7EAEF"/>
                </a:solidFill>
                <a:latin typeface="Eurostile"/>
                <a:ea typeface="Eurostile" pitchFamily="34" charset="-122"/>
                <a:cs typeface="Eurostile" pitchFamily="34" charset="-120"/>
              </a:rPr>
              <a:t> predicts better than global indicators</a:t>
            </a:r>
            <a:endParaRPr lang="en-US" sz="1400">
              <a:ea typeface="Calibri"/>
              <a:cs typeface="Calibri"/>
            </a:endParaRPr>
          </a:p>
        </p:txBody>
      </p:sp>
      <p:sp>
        <p:nvSpPr>
          <p:cNvPr id="12" name="Text 9"/>
          <p:cNvSpPr/>
          <p:nvPr/>
        </p:nvSpPr>
        <p:spPr>
          <a:xfrm>
            <a:off x="7572779" y="5452508"/>
            <a:ext cx="3543187" cy="365760"/>
          </a:xfrm>
          <a:prstGeom prst="rect">
            <a:avLst/>
          </a:prstGeom>
          <a:noFill/>
          <a:ln/>
        </p:spPr>
        <p:txBody>
          <a:bodyPr wrap="square" lIns="0" tIns="0" rIns="0" bIns="0" rtlCol="0" anchor="ctr"/>
          <a:lstStyle/>
          <a:p>
            <a:pPr marL="0" indent="0">
              <a:buNone/>
            </a:pPr>
            <a:r>
              <a:rPr lang="en-US" sz="1200" i="1">
                <a:solidFill>
                  <a:srgbClr val="6B7686"/>
                </a:solidFill>
                <a:latin typeface="Eurostile"/>
                <a:ea typeface="Eurostile" pitchFamily="34" charset="-122"/>
                <a:cs typeface="Eurostile" pitchFamily="34" charset="-120"/>
              </a:rPr>
              <a:t>All figures are TEST-set performance, not validation</a:t>
            </a:r>
            <a:endParaRPr lang="en-US" sz="1200">
              <a:latin typeface="Eurostile"/>
            </a:endParaRPr>
          </a:p>
        </p:txBody>
      </p:sp>
      <p:pic>
        <p:nvPicPr>
          <p:cNvPr id="14" name="Picture 13">
            <a:extLst>
              <a:ext uri="{FF2B5EF4-FFF2-40B4-BE49-F238E27FC236}">
                <a16:creationId xmlns:a16="http://schemas.microsoft.com/office/drawing/2014/main" id="{2F510480-6FE9-7258-7164-E9A184FCEEBD}"/>
              </a:ext>
            </a:extLst>
          </p:cNvPr>
          <p:cNvPicPr>
            <a:picLocks noChangeAspect="1"/>
          </p:cNvPicPr>
          <p:nvPr/>
        </p:nvPicPr>
        <p:blipFill>
          <a:blip r:embed="rId3"/>
          <a:stretch>
            <a:fillRect/>
          </a:stretch>
        </p:blipFill>
        <p:spPr>
          <a:xfrm>
            <a:off x="6862900" y="1716442"/>
            <a:ext cx="4776742" cy="37358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1151B"/>
        </a:solidFill>
        <a:effectLst/>
      </p:bgPr>
    </p:bg>
    <p:spTree>
      <p:nvGrpSpPr>
        <p:cNvPr id="1" name=""/>
        <p:cNvGrpSpPr/>
        <p:nvPr/>
      </p:nvGrpSpPr>
      <p:grpSpPr>
        <a:xfrm>
          <a:off x="0" y="0"/>
          <a:ext cx="0" cy="0"/>
          <a:chOff x="0" y="0"/>
          <a:chExt cx="0" cy="0"/>
        </a:xfrm>
      </p:grpSpPr>
      <p:sp>
        <p:nvSpPr>
          <p:cNvPr id="2" name="Text 0"/>
          <p:cNvSpPr/>
          <p:nvPr/>
        </p:nvSpPr>
        <p:spPr>
          <a:xfrm>
            <a:off x="566928" y="384048"/>
            <a:ext cx="8686800" cy="237744"/>
          </a:xfrm>
          <a:prstGeom prst="rect">
            <a:avLst/>
          </a:prstGeom>
          <a:noFill/>
          <a:ln/>
        </p:spPr>
        <p:txBody>
          <a:bodyPr wrap="square" lIns="0" tIns="0" rIns="0" bIns="0" rtlCol="0" anchor="ctr"/>
          <a:lstStyle/>
          <a:p>
            <a:pPr marL="0" indent="0">
              <a:buNone/>
            </a:pPr>
            <a:r>
              <a:rPr lang="en-US" sz="1150" b="1" kern="0" spc="160">
                <a:solidFill>
                  <a:srgbClr val="D1614B"/>
                </a:solidFill>
                <a:latin typeface="Eurostile" pitchFamily="34" charset="0"/>
                <a:ea typeface="Eurostile" pitchFamily="34" charset="-122"/>
                <a:cs typeface="Eurostile" pitchFamily="34" charset="-120"/>
              </a:rPr>
              <a:t>THE KEY FINDING</a:t>
            </a:r>
            <a:endParaRPr lang="en-US" sz="1150"/>
          </a:p>
        </p:txBody>
      </p:sp>
      <p:sp>
        <p:nvSpPr>
          <p:cNvPr id="3" name="Text 1"/>
          <p:cNvSpPr/>
          <p:nvPr/>
        </p:nvSpPr>
        <p:spPr>
          <a:xfrm>
            <a:off x="566928" y="658368"/>
            <a:ext cx="10972800" cy="658368"/>
          </a:xfrm>
          <a:prstGeom prst="rect">
            <a:avLst/>
          </a:prstGeom>
          <a:noFill/>
          <a:ln/>
        </p:spPr>
        <p:txBody>
          <a:bodyPr wrap="square" lIns="0" tIns="0" rIns="0" bIns="0" rtlCol="0" anchor="ctr"/>
          <a:lstStyle/>
          <a:p>
            <a:pPr marL="0" indent="0">
              <a:buNone/>
            </a:pPr>
            <a:r>
              <a:rPr lang="en-US" sz="3000" b="1">
                <a:solidFill>
                  <a:srgbClr val="E7EAEF"/>
                </a:solidFill>
                <a:latin typeface="Eurostile" pitchFamily="34" charset="0"/>
                <a:ea typeface="Eurostile" pitchFamily="34" charset="-122"/>
                <a:cs typeface="Eurostile" pitchFamily="34" charset="-120"/>
              </a:rPr>
              <a:t>Structural exposure ≠ growth direction</a:t>
            </a:r>
            <a:endParaRPr lang="en-US" sz="3000"/>
          </a:p>
        </p:txBody>
      </p:sp>
      <p:sp>
        <p:nvSpPr>
          <p:cNvPr id="6" name="Shape 2"/>
          <p:cNvSpPr/>
          <p:nvPr/>
        </p:nvSpPr>
        <p:spPr>
          <a:xfrm>
            <a:off x="566928" y="4800600"/>
            <a:ext cx="2697480" cy="1097280"/>
          </a:xfrm>
          <a:prstGeom prst="roundRect">
            <a:avLst>
              <a:gd name="adj" fmla="val 5833"/>
            </a:avLst>
          </a:prstGeom>
          <a:solidFill>
            <a:srgbClr val="171C25"/>
          </a:solidFill>
          <a:ln w="12700">
            <a:solidFill>
              <a:srgbClr val="232A34"/>
            </a:solidFill>
            <a:prstDash val="solid"/>
          </a:ln>
        </p:spPr>
        <p:txBody>
          <a:bodyPr/>
          <a:lstStyle/>
          <a:p>
            <a:endParaRPr lang="en-US"/>
          </a:p>
        </p:txBody>
      </p:sp>
      <p:sp>
        <p:nvSpPr>
          <p:cNvPr id="7" name="Text 3"/>
          <p:cNvSpPr/>
          <p:nvPr/>
        </p:nvSpPr>
        <p:spPr>
          <a:xfrm>
            <a:off x="731520" y="4946904"/>
            <a:ext cx="2368296" cy="566928"/>
          </a:xfrm>
          <a:prstGeom prst="rect">
            <a:avLst/>
          </a:prstGeom>
          <a:noFill/>
          <a:ln/>
        </p:spPr>
        <p:txBody>
          <a:bodyPr wrap="square" lIns="0" tIns="0" rIns="0" bIns="0" rtlCol="0" anchor="ctr"/>
          <a:lstStyle/>
          <a:p>
            <a:pPr marL="0" indent="0" algn="l">
              <a:buNone/>
            </a:pPr>
            <a:r>
              <a:rPr lang="en-US" sz="2600" b="1">
                <a:solidFill>
                  <a:srgbClr val="D1614B"/>
                </a:solidFill>
                <a:latin typeface="Eurostile"/>
                <a:ea typeface="Eurostile" pitchFamily="34" charset="-122"/>
                <a:cs typeface="Eurostile" pitchFamily="34" charset="-120"/>
              </a:rPr>
              <a:t>ρ = 0.05</a:t>
            </a:r>
            <a:endParaRPr lang="en-US" sz="2600"/>
          </a:p>
        </p:txBody>
      </p:sp>
      <p:sp>
        <p:nvSpPr>
          <p:cNvPr id="8" name="Text 4"/>
          <p:cNvSpPr/>
          <p:nvPr/>
        </p:nvSpPr>
        <p:spPr>
          <a:xfrm>
            <a:off x="731520" y="5513832"/>
            <a:ext cx="2697480" cy="457200"/>
          </a:xfrm>
          <a:prstGeom prst="rect">
            <a:avLst/>
          </a:prstGeom>
          <a:noFill/>
          <a:ln/>
        </p:spPr>
        <p:txBody>
          <a:bodyPr wrap="square" lIns="0" tIns="0" rIns="0" bIns="0" rtlCol="0" anchor="ctr"/>
          <a:lstStyle/>
          <a:p>
            <a:r>
              <a:rPr lang="en-US" sz="1000">
                <a:solidFill>
                  <a:srgbClr val="9AA5B5"/>
                </a:solidFill>
                <a:latin typeface="Eurostile"/>
                <a:ea typeface="Eurostile" pitchFamily="34" charset="-122"/>
                <a:cs typeface="Eurostile" pitchFamily="34" charset="-120"/>
              </a:rPr>
              <a:t>Spearman correlation: no significant relationship</a:t>
            </a:r>
            <a:endParaRPr lang="en-US" sz="1000">
              <a:latin typeface="Eurostile"/>
              <a:ea typeface="Calibri"/>
              <a:cs typeface="Calibri"/>
            </a:endParaRPr>
          </a:p>
        </p:txBody>
      </p:sp>
      <p:sp>
        <p:nvSpPr>
          <p:cNvPr id="9" name="Shape 5"/>
          <p:cNvSpPr/>
          <p:nvPr/>
        </p:nvSpPr>
        <p:spPr>
          <a:xfrm>
            <a:off x="3474720" y="4800600"/>
            <a:ext cx="2697480" cy="1097280"/>
          </a:xfrm>
          <a:prstGeom prst="roundRect">
            <a:avLst>
              <a:gd name="adj" fmla="val 5833"/>
            </a:avLst>
          </a:prstGeom>
          <a:solidFill>
            <a:srgbClr val="171C25"/>
          </a:solidFill>
          <a:ln w="12700">
            <a:solidFill>
              <a:srgbClr val="232A34"/>
            </a:solidFill>
            <a:prstDash val="solid"/>
          </a:ln>
        </p:spPr>
        <p:txBody>
          <a:bodyPr/>
          <a:lstStyle/>
          <a:p>
            <a:endParaRPr lang="en-US"/>
          </a:p>
        </p:txBody>
      </p:sp>
      <p:sp>
        <p:nvSpPr>
          <p:cNvPr id="10" name="Text 6"/>
          <p:cNvSpPr/>
          <p:nvPr/>
        </p:nvSpPr>
        <p:spPr>
          <a:xfrm>
            <a:off x="3639312" y="4946904"/>
            <a:ext cx="2368296" cy="566928"/>
          </a:xfrm>
          <a:prstGeom prst="rect">
            <a:avLst/>
          </a:prstGeom>
          <a:noFill/>
          <a:ln/>
        </p:spPr>
        <p:txBody>
          <a:bodyPr wrap="square" lIns="0" tIns="0" rIns="0" bIns="0" rtlCol="0" anchor="ctr"/>
          <a:lstStyle/>
          <a:p>
            <a:pPr marL="0" indent="0" algn="l">
              <a:buNone/>
            </a:pPr>
            <a:r>
              <a:rPr lang="en-US" sz="2600" b="1">
                <a:solidFill>
                  <a:srgbClr val="D1614B"/>
                </a:solidFill>
                <a:latin typeface="Eurostile"/>
                <a:ea typeface="Eurostile" pitchFamily="34" charset="-122"/>
                <a:cs typeface="Eurostile" pitchFamily="34" charset="-120"/>
              </a:rPr>
              <a:t>39%</a:t>
            </a:r>
            <a:endParaRPr lang="en-US" sz="2600">
              <a:latin typeface="Eurostile"/>
            </a:endParaRPr>
          </a:p>
        </p:txBody>
      </p:sp>
      <p:sp>
        <p:nvSpPr>
          <p:cNvPr id="11" name="Text 7"/>
          <p:cNvSpPr/>
          <p:nvPr/>
        </p:nvSpPr>
        <p:spPr>
          <a:xfrm>
            <a:off x="3639312" y="5513832"/>
            <a:ext cx="2368296" cy="457200"/>
          </a:xfrm>
          <a:prstGeom prst="rect">
            <a:avLst/>
          </a:prstGeom>
          <a:noFill/>
          <a:ln/>
        </p:spPr>
        <p:txBody>
          <a:bodyPr wrap="square" lIns="0" tIns="0" rIns="0" bIns="0" rtlCol="0" anchor="ctr"/>
          <a:lstStyle/>
          <a:p>
            <a:pPr marL="0" indent="0" algn="l">
              <a:buNone/>
            </a:pPr>
            <a:r>
              <a:rPr lang="en-US" sz="1050">
                <a:solidFill>
                  <a:srgbClr val="9AA5B5"/>
                </a:solidFill>
                <a:latin typeface="Eurostile" pitchFamily="34" charset="0"/>
                <a:ea typeface="Eurostile" pitchFamily="34" charset="-122"/>
                <a:cs typeface="Eurostile" pitchFamily="34" charset="-120"/>
              </a:rPr>
              <a:t>Precision flagging a contraction</a:t>
            </a:r>
            <a:endParaRPr lang="en-US" sz="1050"/>
          </a:p>
        </p:txBody>
      </p:sp>
      <p:sp>
        <p:nvSpPr>
          <p:cNvPr id="12" name="Shape 8"/>
          <p:cNvSpPr/>
          <p:nvPr/>
        </p:nvSpPr>
        <p:spPr>
          <a:xfrm>
            <a:off x="6382512" y="4800600"/>
            <a:ext cx="2697480" cy="1097280"/>
          </a:xfrm>
          <a:prstGeom prst="roundRect">
            <a:avLst>
              <a:gd name="adj" fmla="val 5833"/>
            </a:avLst>
          </a:prstGeom>
          <a:solidFill>
            <a:srgbClr val="171C25"/>
          </a:solidFill>
          <a:ln w="12700">
            <a:solidFill>
              <a:srgbClr val="232A34"/>
            </a:solidFill>
            <a:prstDash val="solid"/>
          </a:ln>
        </p:spPr>
        <p:txBody>
          <a:bodyPr/>
          <a:lstStyle/>
          <a:p>
            <a:endParaRPr lang="en-US"/>
          </a:p>
        </p:txBody>
      </p:sp>
      <p:sp>
        <p:nvSpPr>
          <p:cNvPr id="13" name="Text 9"/>
          <p:cNvSpPr/>
          <p:nvPr/>
        </p:nvSpPr>
        <p:spPr>
          <a:xfrm>
            <a:off x="6547104" y="4946904"/>
            <a:ext cx="2368296" cy="566928"/>
          </a:xfrm>
          <a:prstGeom prst="rect">
            <a:avLst/>
          </a:prstGeom>
          <a:noFill/>
          <a:ln/>
        </p:spPr>
        <p:txBody>
          <a:bodyPr wrap="square" lIns="0" tIns="0" rIns="0" bIns="0" rtlCol="0" anchor="ctr"/>
          <a:lstStyle/>
          <a:p>
            <a:pPr marL="0" indent="0" algn="l">
              <a:buNone/>
            </a:pPr>
            <a:r>
              <a:rPr lang="en-US" sz="2600" b="1">
                <a:solidFill>
                  <a:srgbClr val="D1614B"/>
                </a:solidFill>
                <a:latin typeface="Eurostile"/>
                <a:ea typeface="Eurostile" pitchFamily="34" charset="-122"/>
                <a:cs typeface="Eurostile" pitchFamily="34" charset="-120"/>
              </a:rPr>
              <a:t>16%</a:t>
            </a:r>
            <a:endParaRPr lang="en-US" sz="2600">
              <a:latin typeface="Eurostile"/>
            </a:endParaRPr>
          </a:p>
        </p:txBody>
      </p:sp>
      <p:sp>
        <p:nvSpPr>
          <p:cNvPr id="14" name="Text 10"/>
          <p:cNvSpPr/>
          <p:nvPr/>
        </p:nvSpPr>
        <p:spPr>
          <a:xfrm>
            <a:off x="6547104" y="5513832"/>
            <a:ext cx="2368296" cy="457200"/>
          </a:xfrm>
          <a:prstGeom prst="rect">
            <a:avLst/>
          </a:prstGeom>
          <a:noFill/>
          <a:ln/>
        </p:spPr>
        <p:txBody>
          <a:bodyPr wrap="square" lIns="0" tIns="0" rIns="0" bIns="0" rtlCol="0" anchor="ctr"/>
          <a:lstStyle/>
          <a:p>
            <a:pPr marL="0" indent="0" algn="l">
              <a:buNone/>
            </a:pPr>
            <a:r>
              <a:rPr lang="en-US" sz="1050">
                <a:solidFill>
                  <a:srgbClr val="9AA5B5"/>
                </a:solidFill>
                <a:latin typeface="Eurostile" pitchFamily="34" charset="0"/>
                <a:ea typeface="Eurostile" pitchFamily="34" charset="-122"/>
                <a:cs typeface="Eurostile" pitchFamily="34" charset="-120"/>
              </a:rPr>
              <a:t>Recall: contractions actually caught</a:t>
            </a:r>
            <a:endParaRPr lang="en-US" sz="1050"/>
          </a:p>
        </p:txBody>
      </p:sp>
      <p:sp>
        <p:nvSpPr>
          <p:cNvPr id="15" name="Shape 11"/>
          <p:cNvSpPr/>
          <p:nvPr/>
        </p:nvSpPr>
        <p:spPr>
          <a:xfrm>
            <a:off x="9290304" y="4800600"/>
            <a:ext cx="2697480" cy="1097280"/>
          </a:xfrm>
          <a:prstGeom prst="roundRect">
            <a:avLst>
              <a:gd name="adj" fmla="val 5833"/>
            </a:avLst>
          </a:prstGeom>
          <a:solidFill>
            <a:srgbClr val="171C25"/>
          </a:solidFill>
          <a:ln w="12700">
            <a:solidFill>
              <a:srgbClr val="232A34"/>
            </a:solidFill>
            <a:prstDash val="solid"/>
          </a:ln>
        </p:spPr>
        <p:txBody>
          <a:bodyPr/>
          <a:lstStyle/>
          <a:p>
            <a:endParaRPr lang="en-US"/>
          </a:p>
        </p:txBody>
      </p:sp>
      <p:sp>
        <p:nvSpPr>
          <p:cNvPr id="16" name="Text 12"/>
          <p:cNvSpPr/>
          <p:nvPr/>
        </p:nvSpPr>
        <p:spPr>
          <a:xfrm>
            <a:off x="9454896" y="4946904"/>
            <a:ext cx="2368296" cy="566928"/>
          </a:xfrm>
          <a:prstGeom prst="rect">
            <a:avLst/>
          </a:prstGeom>
          <a:noFill/>
          <a:ln/>
        </p:spPr>
        <p:txBody>
          <a:bodyPr wrap="square" lIns="0" tIns="0" rIns="0" bIns="0" rtlCol="0" anchor="ctr"/>
          <a:lstStyle/>
          <a:p>
            <a:pPr marL="0" indent="0" algn="l">
              <a:buNone/>
            </a:pPr>
            <a:r>
              <a:rPr lang="en-US" sz="2600" b="1">
                <a:solidFill>
                  <a:srgbClr val="7186A6"/>
                </a:solidFill>
                <a:latin typeface="Eurostile" pitchFamily="34" charset="0"/>
                <a:ea typeface="Eurostile" pitchFamily="34" charset="-122"/>
                <a:cs typeface="Eurostile" pitchFamily="34" charset="-120"/>
              </a:rPr>
              <a:t>1,100</a:t>
            </a:r>
            <a:endParaRPr lang="en-US" sz="2600"/>
          </a:p>
        </p:txBody>
      </p:sp>
      <p:sp>
        <p:nvSpPr>
          <p:cNvPr id="17" name="Text 13"/>
          <p:cNvSpPr/>
          <p:nvPr/>
        </p:nvSpPr>
        <p:spPr>
          <a:xfrm>
            <a:off x="9454896" y="5513832"/>
            <a:ext cx="2368296" cy="457200"/>
          </a:xfrm>
          <a:prstGeom prst="rect">
            <a:avLst/>
          </a:prstGeom>
          <a:noFill/>
          <a:ln/>
        </p:spPr>
        <p:txBody>
          <a:bodyPr wrap="square" lIns="0" tIns="0" rIns="0" bIns="0" rtlCol="0" anchor="ctr"/>
          <a:lstStyle/>
          <a:p>
            <a:pPr marL="0" indent="0" algn="l">
              <a:buNone/>
            </a:pPr>
            <a:r>
              <a:rPr lang="en-US" sz="1050">
                <a:solidFill>
                  <a:srgbClr val="9AA5B5"/>
                </a:solidFill>
                <a:latin typeface="Eurostile" pitchFamily="34" charset="0"/>
                <a:ea typeface="Eurostile" pitchFamily="34" charset="-122"/>
                <a:cs typeface="Eurostile" pitchFamily="34" charset="-120"/>
              </a:rPr>
              <a:t>Historical corridor-years tested</a:t>
            </a:r>
            <a:endParaRPr lang="en-US" sz="1050"/>
          </a:p>
        </p:txBody>
      </p:sp>
      <p:sp>
        <p:nvSpPr>
          <p:cNvPr id="18" name="Text 14"/>
          <p:cNvSpPr/>
          <p:nvPr/>
        </p:nvSpPr>
        <p:spPr>
          <a:xfrm>
            <a:off x="566928" y="6035040"/>
            <a:ext cx="10881360" cy="411480"/>
          </a:xfrm>
          <a:prstGeom prst="rect">
            <a:avLst/>
          </a:prstGeom>
          <a:noFill/>
          <a:ln/>
        </p:spPr>
        <p:txBody>
          <a:bodyPr wrap="square" lIns="0" tIns="0" rIns="0" bIns="0" rtlCol="0" anchor="ctr"/>
          <a:lstStyle/>
          <a:p>
            <a:pPr marL="0" indent="0">
              <a:buNone/>
            </a:pPr>
            <a:r>
              <a:rPr lang="en-US" sz="1500" b="1">
                <a:solidFill>
                  <a:srgbClr val="E7EAEF"/>
                </a:solidFill>
                <a:latin typeface="Eurostile" pitchFamily="34" charset="0"/>
                <a:ea typeface="Eurostile" pitchFamily="34" charset="-122"/>
                <a:cs typeface="Eurostile" pitchFamily="34" charset="-120"/>
              </a:rPr>
              <a:t>The two lenses are complementary, not redundant. That is now measured, not assumed.</a:t>
            </a:r>
            <a:endParaRPr lang="en-US" sz="1500"/>
          </a:p>
        </p:txBody>
      </p:sp>
      <p:pic>
        <p:nvPicPr>
          <p:cNvPr id="20" name="Picture 19">
            <a:extLst>
              <a:ext uri="{FF2B5EF4-FFF2-40B4-BE49-F238E27FC236}">
                <a16:creationId xmlns:a16="http://schemas.microsoft.com/office/drawing/2014/main" id="{A22A4A54-B272-70AF-8C2B-0F64A080CC7C}"/>
              </a:ext>
            </a:extLst>
          </p:cNvPr>
          <p:cNvPicPr>
            <a:picLocks noChangeAspect="1"/>
          </p:cNvPicPr>
          <p:nvPr/>
        </p:nvPicPr>
        <p:blipFill>
          <a:blip r:embed="rId3"/>
          <a:stretch>
            <a:fillRect/>
          </a:stretch>
        </p:blipFill>
        <p:spPr>
          <a:xfrm>
            <a:off x="6140388" y="1525327"/>
            <a:ext cx="5297009" cy="2771620"/>
          </a:xfrm>
          <a:prstGeom prst="rect">
            <a:avLst/>
          </a:prstGeom>
        </p:spPr>
      </p:pic>
      <p:pic>
        <p:nvPicPr>
          <p:cNvPr id="21" name="Picture 20">
            <a:extLst>
              <a:ext uri="{FF2B5EF4-FFF2-40B4-BE49-F238E27FC236}">
                <a16:creationId xmlns:a16="http://schemas.microsoft.com/office/drawing/2014/main" id="{AD2EC538-4CE6-DA99-3404-2D6DDAD551C4}"/>
              </a:ext>
            </a:extLst>
          </p:cNvPr>
          <p:cNvPicPr>
            <a:picLocks noChangeAspect="1"/>
          </p:cNvPicPr>
          <p:nvPr/>
        </p:nvPicPr>
        <p:blipFill>
          <a:blip r:embed="rId4"/>
          <a:stretch>
            <a:fillRect/>
          </a:stretch>
        </p:blipFill>
        <p:spPr>
          <a:xfrm>
            <a:off x="579453" y="1494778"/>
            <a:ext cx="5033269" cy="280312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1151B"/>
        </a:solidFill>
        <a:effectLst/>
      </p:bgPr>
    </p:bg>
    <p:spTree>
      <p:nvGrpSpPr>
        <p:cNvPr id="1" name=""/>
        <p:cNvGrpSpPr/>
        <p:nvPr/>
      </p:nvGrpSpPr>
      <p:grpSpPr>
        <a:xfrm>
          <a:off x="0" y="0"/>
          <a:ext cx="0" cy="0"/>
          <a:chOff x="0" y="0"/>
          <a:chExt cx="0" cy="0"/>
        </a:xfrm>
      </p:grpSpPr>
      <p:sp>
        <p:nvSpPr>
          <p:cNvPr id="2" name="Text 0"/>
          <p:cNvSpPr/>
          <p:nvPr/>
        </p:nvSpPr>
        <p:spPr>
          <a:xfrm>
            <a:off x="566928" y="384048"/>
            <a:ext cx="8686800" cy="237744"/>
          </a:xfrm>
          <a:prstGeom prst="rect">
            <a:avLst/>
          </a:prstGeom>
          <a:noFill/>
          <a:ln/>
        </p:spPr>
        <p:txBody>
          <a:bodyPr wrap="square" lIns="0" tIns="0" rIns="0" bIns="0" rtlCol="0" anchor="ctr"/>
          <a:lstStyle/>
          <a:p>
            <a:pPr marL="0" indent="0">
              <a:buNone/>
            </a:pPr>
            <a:r>
              <a:rPr lang="en-US" sz="1150" b="1" kern="0" spc="160">
                <a:solidFill>
                  <a:srgbClr val="7186A6"/>
                </a:solidFill>
                <a:latin typeface="Eurostile" pitchFamily="34" charset="0"/>
                <a:ea typeface="Eurostile" pitchFamily="34" charset="-122"/>
                <a:cs typeface="Eurostile" pitchFamily="34" charset="-120"/>
              </a:rPr>
              <a:t>RECOMMENDATIONS &amp; LIMITATIONS</a:t>
            </a:r>
            <a:endParaRPr lang="en-US" sz="1150"/>
          </a:p>
        </p:txBody>
      </p:sp>
      <p:sp>
        <p:nvSpPr>
          <p:cNvPr id="3" name="Text 1"/>
          <p:cNvSpPr/>
          <p:nvPr/>
        </p:nvSpPr>
        <p:spPr>
          <a:xfrm>
            <a:off x="566928" y="658368"/>
            <a:ext cx="10972800" cy="658368"/>
          </a:xfrm>
          <a:prstGeom prst="rect">
            <a:avLst/>
          </a:prstGeom>
          <a:noFill/>
          <a:ln/>
        </p:spPr>
        <p:txBody>
          <a:bodyPr wrap="square" lIns="0" tIns="0" rIns="0" bIns="0" rtlCol="0" anchor="ctr"/>
          <a:lstStyle/>
          <a:p>
            <a:pPr marL="0" indent="0">
              <a:buNone/>
            </a:pPr>
            <a:r>
              <a:rPr lang="en-US" sz="2400" b="1">
                <a:solidFill>
                  <a:srgbClr val="E7EAEF"/>
                </a:solidFill>
                <a:latin typeface="Eurostile" pitchFamily="34" charset="0"/>
                <a:ea typeface="Eurostile" pitchFamily="34" charset="-122"/>
                <a:cs typeface="Eurostile" pitchFamily="34" charset="-120"/>
              </a:rPr>
              <a:t>What we'd tell a stakeholder, and what we wouldn't claim</a:t>
            </a:r>
            <a:endParaRPr lang="en-US" sz="2400"/>
          </a:p>
        </p:txBody>
      </p:sp>
      <p:sp>
        <p:nvSpPr>
          <p:cNvPr id="4" name="Text 2"/>
          <p:cNvSpPr/>
          <p:nvPr/>
        </p:nvSpPr>
        <p:spPr>
          <a:xfrm>
            <a:off x="566928" y="1481328"/>
            <a:ext cx="5486400" cy="256032"/>
          </a:xfrm>
          <a:prstGeom prst="rect">
            <a:avLst/>
          </a:prstGeom>
          <a:noFill/>
          <a:ln/>
        </p:spPr>
        <p:txBody>
          <a:bodyPr wrap="square" lIns="0" tIns="0" rIns="0" bIns="0" rtlCol="0" anchor="ctr"/>
          <a:lstStyle/>
          <a:p>
            <a:pPr marL="0" indent="0">
              <a:buNone/>
            </a:pPr>
            <a:r>
              <a:rPr lang="en-US" sz="1100" b="1" kern="0" spc="140">
                <a:solidFill>
                  <a:srgbClr val="46C2B4"/>
                </a:solidFill>
                <a:latin typeface="Eurostile" pitchFamily="34" charset="0"/>
                <a:ea typeface="Eurostile" pitchFamily="34" charset="-122"/>
                <a:cs typeface="Eurostile" pitchFamily="34" charset="-120"/>
              </a:rPr>
              <a:t>RECOMMENDATIONS</a:t>
            </a:r>
            <a:endParaRPr lang="en-US" sz="1100"/>
          </a:p>
        </p:txBody>
      </p:sp>
      <p:sp>
        <p:nvSpPr>
          <p:cNvPr id="5" name="Text 3"/>
          <p:cNvSpPr/>
          <p:nvPr/>
        </p:nvSpPr>
        <p:spPr>
          <a:xfrm>
            <a:off x="566928" y="1810512"/>
            <a:ext cx="5486400" cy="256032"/>
          </a:xfrm>
          <a:prstGeom prst="rect">
            <a:avLst/>
          </a:prstGeom>
          <a:noFill/>
          <a:ln/>
        </p:spPr>
        <p:txBody>
          <a:bodyPr wrap="square" lIns="0" tIns="0" rIns="0" bIns="0" rtlCol="0" anchor="ctr"/>
          <a:lstStyle/>
          <a:p>
            <a:pPr marL="0" indent="0">
              <a:buNone/>
            </a:pPr>
            <a:r>
              <a:rPr lang="en-US" sz="1150" i="1">
                <a:solidFill>
                  <a:srgbClr val="6B7686"/>
                </a:solidFill>
                <a:latin typeface="Eurostile" pitchFamily="34" charset="0"/>
                <a:ea typeface="Eurostile" pitchFamily="34" charset="-122"/>
                <a:cs typeface="Eurostile" pitchFamily="34" charset="-120"/>
              </a:rPr>
              <a:t>For executives</a:t>
            </a:r>
            <a:endParaRPr lang="en-US" sz="1150"/>
          </a:p>
        </p:txBody>
      </p:sp>
      <p:sp>
        <p:nvSpPr>
          <p:cNvPr id="6" name="Text 4"/>
          <p:cNvSpPr/>
          <p:nvPr/>
        </p:nvSpPr>
        <p:spPr>
          <a:xfrm>
            <a:off x="566928" y="2121408"/>
            <a:ext cx="5486400" cy="256032"/>
          </a:xfrm>
          <a:prstGeom prst="rect">
            <a:avLst/>
          </a:prstGeom>
          <a:noFill/>
          <a:ln/>
        </p:spPr>
        <p:txBody>
          <a:bodyPr wrap="square" lIns="0" tIns="0" rIns="0" bIns="0" rtlCol="0" anchor="ctr"/>
          <a:lstStyle/>
          <a:p>
            <a:pPr marL="0" indent="0">
              <a:buNone/>
            </a:pPr>
            <a:r>
              <a:rPr lang="en-US" sz="1350" b="1">
                <a:solidFill>
                  <a:srgbClr val="E7EAEF"/>
                </a:solidFill>
                <a:latin typeface="Eurostile" pitchFamily="34" charset="0"/>
                <a:ea typeface="Eurostile" pitchFamily="34" charset="-122"/>
                <a:cs typeface="Eurostile" pitchFamily="34" charset="-120"/>
              </a:rPr>
              <a:t>Two lenses, two jobs</a:t>
            </a:r>
            <a:endParaRPr lang="en-US" sz="1350"/>
          </a:p>
        </p:txBody>
      </p:sp>
      <p:sp>
        <p:nvSpPr>
          <p:cNvPr id="7" name="Text 5"/>
          <p:cNvSpPr/>
          <p:nvPr/>
        </p:nvSpPr>
        <p:spPr>
          <a:xfrm>
            <a:off x="566928" y="2377440"/>
            <a:ext cx="5486400" cy="274320"/>
          </a:xfrm>
          <a:prstGeom prst="rect">
            <a:avLst/>
          </a:prstGeom>
          <a:noFill/>
          <a:ln/>
        </p:spPr>
        <p:txBody>
          <a:bodyPr wrap="square" lIns="0" tIns="0" rIns="0" bIns="0" rtlCol="0" anchor="ctr"/>
          <a:lstStyle/>
          <a:p>
            <a:pPr marL="0" indent="0">
              <a:buNone/>
            </a:pPr>
            <a:r>
              <a:rPr lang="en-US" sz="1150">
                <a:solidFill>
                  <a:srgbClr val="9AA5B5"/>
                </a:solidFill>
                <a:latin typeface="Eurostile" pitchFamily="34" charset="0"/>
                <a:ea typeface="Eurostile" pitchFamily="34" charset="-122"/>
                <a:cs typeface="Eurostile" pitchFamily="34" charset="-120"/>
              </a:rPr>
              <a:t>Never blend them into one score.</a:t>
            </a:r>
            <a:endParaRPr lang="en-US" sz="1150"/>
          </a:p>
        </p:txBody>
      </p:sp>
      <p:sp>
        <p:nvSpPr>
          <p:cNvPr id="8" name="Text 6"/>
          <p:cNvSpPr/>
          <p:nvPr/>
        </p:nvSpPr>
        <p:spPr>
          <a:xfrm>
            <a:off x="566928" y="2688336"/>
            <a:ext cx="5486400" cy="256032"/>
          </a:xfrm>
          <a:prstGeom prst="rect">
            <a:avLst/>
          </a:prstGeom>
          <a:noFill/>
          <a:ln/>
        </p:spPr>
        <p:txBody>
          <a:bodyPr wrap="square" lIns="0" tIns="0" rIns="0" bIns="0" rtlCol="0" anchor="ctr"/>
          <a:lstStyle/>
          <a:p>
            <a:pPr marL="0" indent="0">
              <a:buNone/>
            </a:pPr>
            <a:r>
              <a:rPr lang="en-US" sz="1350" b="1">
                <a:solidFill>
                  <a:srgbClr val="E7EAEF"/>
                </a:solidFill>
                <a:latin typeface="Eurostile"/>
                <a:ea typeface="Eurostile" pitchFamily="34" charset="-122"/>
                <a:cs typeface="Eurostile" pitchFamily="34" charset="-120"/>
              </a:rPr>
              <a:t>Prioritize the three</a:t>
            </a:r>
            <a:endParaRPr lang="en-US" sz="1350">
              <a:latin typeface="Eurostile"/>
            </a:endParaRPr>
          </a:p>
        </p:txBody>
      </p:sp>
      <p:sp>
        <p:nvSpPr>
          <p:cNvPr id="9" name="Text 7"/>
          <p:cNvSpPr/>
          <p:nvPr/>
        </p:nvSpPr>
        <p:spPr>
          <a:xfrm>
            <a:off x="566928" y="2944368"/>
            <a:ext cx="5486400" cy="274320"/>
          </a:xfrm>
          <a:prstGeom prst="rect">
            <a:avLst/>
          </a:prstGeom>
          <a:noFill/>
          <a:ln/>
        </p:spPr>
        <p:txBody>
          <a:bodyPr wrap="square" lIns="0" tIns="0" rIns="0" bIns="0" rtlCol="0" anchor="ctr"/>
          <a:lstStyle/>
          <a:p>
            <a:pPr marL="0" indent="0">
              <a:buNone/>
            </a:pPr>
            <a:r>
              <a:rPr lang="en-US" sz="1150">
                <a:solidFill>
                  <a:srgbClr val="9AA5B5"/>
                </a:solidFill>
                <a:latin typeface="Eurostile" pitchFamily="34" charset="0"/>
                <a:ea typeface="Eurostile" pitchFamily="34" charset="-122"/>
                <a:cs typeface="Eurostile" pitchFamily="34" charset="-120"/>
              </a:rPr>
              <a:t>Strategic Exposure corridors get resourced first.</a:t>
            </a:r>
            <a:endParaRPr lang="en-US" sz="1150"/>
          </a:p>
        </p:txBody>
      </p:sp>
      <p:sp>
        <p:nvSpPr>
          <p:cNvPr id="10" name="Text 8"/>
          <p:cNvSpPr/>
          <p:nvPr/>
        </p:nvSpPr>
        <p:spPr>
          <a:xfrm>
            <a:off x="566928" y="3255264"/>
            <a:ext cx="5486400" cy="256032"/>
          </a:xfrm>
          <a:prstGeom prst="rect">
            <a:avLst/>
          </a:prstGeom>
          <a:noFill/>
          <a:ln/>
        </p:spPr>
        <p:txBody>
          <a:bodyPr wrap="square" lIns="0" tIns="0" rIns="0" bIns="0" rtlCol="0" anchor="ctr"/>
          <a:lstStyle/>
          <a:p>
            <a:pPr marL="0" indent="0">
              <a:buNone/>
            </a:pPr>
            <a:r>
              <a:rPr lang="en-US" sz="1350" b="1">
                <a:solidFill>
                  <a:srgbClr val="E7EAEF"/>
                </a:solidFill>
                <a:latin typeface="Eurostile" pitchFamily="34" charset="0"/>
                <a:ea typeface="Eurostile" pitchFamily="34" charset="-122"/>
                <a:cs typeface="Eurostile" pitchFamily="34" charset="-120"/>
              </a:rPr>
              <a:t>Forecasts are directional</a:t>
            </a:r>
            <a:endParaRPr lang="en-US" sz="1350"/>
          </a:p>
        </p:txBody>
      </p:sp>
      <p:sp>
        <p:nvSpPr>
          <p:cNvPr id="11" name="Text 9"/>
          <p:cNvSpPr/>
          <p:nvPr/>
        </p:nvSpPr>
        <p:spPr>
          <a:xfrm>
            <a:off x="566928" y="3511296"/>
            <a:ext cx="5486400" cy="274320"/>
          </a:xfrm>
          <a:prstGeom prst="rect">
            <a:avLst/>
          </a:prstGeom>
          <a:noFill/>
          <a:ln/>
        </p:spPr>
        <p:txBody>
          <a:bodyPr wrap="square" lIns="0" tIns="0" rIns="0" bIns="0" rtlCol="0" anchor="ctr"/>
          <a:lstStyle/>
          <a:p>
            <a:pPr marL="0" indent="0">
              <a:buNone/>
            </a:pPr>
            <a:r>
              <a:rPr lang="en-US" sz="1150">
                <a:solidFill>
                  <a:srgbClr val="9AA5B5"/>
                </a:solidFill>
                <a:latin typeface="Eurostile" pitchFamily="34" charset="0"/>
                <a:ea typeface="Eurostile" pitchFamily="34" charset="-122"/>
                <a:cs typeface="Eurostile" pitchFamily="34" charset="-120"/>
              </a:rPr>
              <a:t>A heading, not a commitment.</a:t>
            </a:r>
            <a:endParaRPr lang="en-US" sz="1150"/>
          </a:p>
        </p:txBody>
      </p:sp>
      <p:sp>
        <p:nvSpPr>
          <p:cNvPr id="12" name="Text 10"/>
          <p:cNvSpPr/>
          <p:nvPr/>
        </p:nvSpPr>
        <p:spPr>
          <a:xfrm>
            <a:off x="566928" y="3913632"/>
            <a:ext cx="5486400" cy="256032"/>
          </a:xfrm>
          <a:prstGeom prst="rect">
            <a:avLst/>
          </a:prstGeom>
          <a:noFill/>
          <a:ln/>
        </p:spPr>
        <p:txBody>
          <a:bodyPr wrap="square" lIns="0" tIns="0" rIns="0" bIns="0" rtlCol="0" anchor="ctr"/>
          <a:lstStyle/>
          <a:p>
            <a:pPr marL="0" indent="0">
              <a:buNone/>
            </a:pPr>
            <a:r>
              <a:rPr lang="en-US" sz="1150" i="1">
                <a:solidFill>
                  <a:srgbClr val="6B7686"/>
                </a:solidFill>
                <a:latin typeface="Eurostile" pitchFamily="34" charset="0"/>
                <a:ea typeface="Eurostile" pitchFamily="34" charset="-122"/>
                <a:cs typeface="Eurostile" pitchFamily="34" charset="-120"/>
              </a:rPr>
              <a:t>For analysts</a:t>
            </a:r>
            <a:endParaRPr lang="en-US" sz="1150"/>
          </a:p>
        </p:txBody>
      </p:sp>
      <p:sp>
        <p:nvSpPr>
          <p:cNvPr id="13" name="Text 11"/>
          <p:cNvSpPr/>
          <p:nvPr/>
        </p:nvSpPr>
        <p:spPr>
          <a:xfrm>
            <a:off x="566928" y="4224528"/>
            <a:ext cx="5486400" cy="256032"/>
          </a:xfrm>
          <a:prstGeom prst="rect">
            <a:avLst/>
          </a:prstGeom>
          <a:noFill/>
          <a:ln/>
        </p:spPr>
        <p:txBody>
          <a:bodyPr wrap="square" lIns="0" tIns="0" rIns="0" bIns="0" rtlCol="0" anchor="ctr"/>
          <a:lstStyle/>
          <a:p>
            <a:pPr marL="0" indent="0">
              <a:buNone/>
            </a:pPr>
            <a:r>
              <a:rPr lang="en-US" sz="1350" b="1">
                <a:solidFill>
                  <a:srgbClr val="E7EAEF"/>
                </a:solidFill>
                <a:latin typeface="Eurostile" pitchFamily="34" charset="0"/>
                <a:ea typeface="Eurostile" pitchFamily="34" charset="-122"/>
                <a:cs typeface="Eurostile" pitchFamily="34" charset="-120"/>
              </a:rPr>
              <a:t>Distrust self-reported importance</a:t>
            </a:r>
            <a:endParaRPr lang="en-US" sz="1350"/>
          </a:p>
        </p:txBody>
      </p:sp>
      <p:sp>
        <p:nvSpPr>
          <p:cNvPr id="14" name="Text 12"/>
          <p:cNvSpPr/>
          <p:nvPr/>
        </p:nvSpPr>
        <p:spPr>
          <a:xfrm>
            <a:off x="566928" y="4480560"/>
            <a:ext cx="5486400" cy="274320"/>
          </a:xfrm>
          <a:prstGeom prst="rect">
            <a:avLst/>
          </a:prstGeom>
          <a:noFill/>
          <a:ln/>
        </p:spPr>
        <p:txBody>
          <a:bodyPr wrap="square" lIns="0" tIns="0" rIns="0" bIns="0" rtlCol="0" anchor="ctr"/>
          <a:lstStyle/>
          <a:p>
            <a:pPr marL="0" indent="0">
              <a:buNone/>
            </a:pPr>
            <a:r>
              <a:rPr lang="en-US" sz="1150">
                <a:solidFill>
                  <a:srgbClr val="9AA5B5"/>
                </a:solidFill>
                <a:latin typeface="Eurostile" pitchFamily="34" charset="0"/>
                <a:ea typeface="Eurostile" pitchFamily="34" charset="-122"/>
                <a:cs typeface="Eurostile" pitchFamily="34" charset="-120"/>
              </a:rPr>
              <a:t>Permutation-test on held-out data.</a:t>
            </a:r>
            <a:endParaRPr lang="en-US" sz="1150"/>
          </a:p>
        </p:txBody>
      </p:sp>
      <p:sp>
        <p:nvSpPr>
          <p:cNvPr id="15" name="Text 13"/>
          <p:cNvSpPr/>
          <p:nvPr/>
        </p:nvSpPr>
        <p:spPr>
          <a:xfrm>
            <a:off x="566928" y="4791456"/>
            <a:ext cx="5486400" cy="256032"/>
          </a:xfrm>
          <a:prstGeom prst="rect">
            <a:avLst/>
          </a:prstGeom>
          <a:noFill/>
          <a:ln/>
        </p:spPr>
        <p:txBody>
          <a:bodyPr wrap="square" lIns="0" tIns="0" rIns="0" bIns="0" rtlCol="0" anchor="ctr"/>
          <a:lstStyle/>
          <a:p>
            <a:pPr marL="0" indent="0">
              <a:buNone/>
            </a:pPr>
            <a:r>
              <a:rPr lang="en-US" sz="1350" b="1">
                <a:solidFill>
                  <a:srgbClr val="E7EAEF"/>
                </a:solidFill>
                <a:latin typeface="Eurostile" pitchFamily="34" charset="0"/>
                <a:ea typeface="Eurostile" pitchFamily="34" charset="-122"/>
                <a:cs typeface="Eurostile" pitchFamily="34" charset="-120"/>
              </a:rPr>
              <a:t>Validate before claiming</a:t>
            </a:r>
            <a:endParaRPr lang="en-US" sz="1350"/>
          </a:p>
        </p:txBody>
      </p:sp>
      <p:sp>
        <p:nvSpPr>
          <p:cNvPr id="16" name="Text 14"/>
          <p:cNvSpPr/>
          <p:nvPr/>
        </p:nvSpPr>
        <p:spPr>
          <a:xfrm>
            <a:off x="566928" y="5047488"/>
            <a:ext cx="5486400" cy="274320"/>
          </a:xfrm>
          <a:prstGeom prst="rect">
            <a:avLst/>
          </a:prstGeom>
          <a:noFill/>
          <a:ln/>
        </p:spPr>
        <p:txBody>
          <a:bodyPr wrap="square" lIns="0" tIns="0" rIns="0" bIns="0" rtlCol="0" anchor="ctr"/>
          <a:lstStyle/>
          <a:p>
            <a:pPr marL="0" indent="0">
              <a:buNone/>
            </a:pPr>
            <a:r>
              <a:rPr lang="en-US" sz="1150">
                <a:solidFill>
                  <a:srgbClr val="9AA5B5"/>
                </a:solidFill>
                <a:latin typeface="Eurostile" pitchFamily="34" charset="0"/>
                <a:ea typeface="Eurostile" pitchFamily="34" charset="-122"/>
                <a:cs typeface="Eurostile" pitchFamily="34" charset="-120"/>
              </a:rPr>
              <a:t>Test any risk score against real outcomes.</a:t>
            </a:r>
            <a:endParaRPr lang="en-US" sz="1150"/>
          </a:p>
        </p:txBody>
      </p:sp>
      <p:sp>
        <p:nvSpPr>
          <p:cNvPr id="17" name="Text 15"/>
          <p:cNvSpPr/>
          <p:nvPr/>
        </p:nvSpPr>
        <p:spPr>
          <a:xfrm>
            <a:off x="6446520" y="1481328"/>
            <a:ext cx="5166360" cy="256032"/>
          </a:xfrm>
          <a:prstGeom prst="rect">
            <a:avLst/>
          </a:prstGeom>
          <a:noFill/>
          <a:ln/>
        </p:spPr>
        <p:txBody>
          <a:bodyPr wrap="square" lIns="0" tIns="0" rIns="0" bIns="0" rtlCol="0" anchor="ctr"/>
          <a:lstStyle/>
          <a:p>
            <a:pPr marL="0" indent="0">
              <a:buNone/>
            </a:pPr>
            <a:r>
              <a:rPr lang="en-US" sz="1100" b="1" kern="0" spc="140">
                <a:solidFill>
                  <a:srgbClr val="D1614B"/>
                </a:solidFill>
                <a:latin typeface="Eurostile" pitchFamily="34" charset="0"/>
                <a:ea typeface="Eurostile" pitchFamily="34" charset="-122"/>
                <a:cs typeface="Eurostile" pitchFamily="34" charset="-120"/>
              </a:rPr>
              <a:t>LIMITATIONS</a:t>
            </a:r>
            <a:endParaRPr lang="en-US" sz="1100"/>
          </a:p>
        </p:txBody>
      </p:sp>
      <p:sp>
        <p:nvSpPr>
          <p:cNvPr id="18" name="Text 16"/>
          <p:cNvSpPr/>
          <p:nvPr/>
        </p:nvSpPr>
        <p:spPr>
          <a:xfrm>
            <a:off x="6446520" y="1810512"/>
            <a:ext cx="5166360" cy="256032"/>
          </a:xfrm>
          <a:prstGeom prst="rect">
            <a:avLst/>
          </a:prstGeom>
          <a:noFill/>
          <a:ln/>
        </p:spPr>
        <p:txBody>
          <a:bodyPr wrap="square" lIns="0" tIns="0" rIns="0" bIns="0" rtlCol="0" anchor="ctr"/>
          <a:lstStyle/>
          <a:p>
            <a:pPr marL="0" indent="0">
              <a:buNone/>
            </a:pPr>
            <a:r>
              <a:rPr lang="en-US" sz="1350" b="1">
                <a:solidFill>
                  <a:srgbClr val="E7EAEF"/>
                </a:solidFill>
                <a:latin typeface="Eurostile" pitchFamily="34" charset="0"/>
                <a:ea typeface="Eurostile" pitchFamily="34" charset="-122"/>
                <a:cs typeface="Eurostile" pitchFamily="34" charset="-120"/>
              </a:rPr>
              <a:t>Small test window</a:t>
            </a:r>
            <a:endParaRPr lang="en-US" sz="1350"/>
          </a:p>
        </p:txBody>
      </p:sp>
      <p:sp>
        <p:nvSpPr>
          <p:cNvPr id="19" name="Text 17"/>
          <p:cNvSpPr/>
          <p:nvPr/>
        </p:nvSpPr>
        <p:spPr>
          <a:xfrm>
            <a:off x="6446520" y="2066544"/>
            <a:ext cx="5166360" cy="274320"/>
          </a:xfrm>
          <a:prstGeom prst="rect">
            <a:avLst/>
          </a:prstGeom>
          <a:noFill/>
          <a:ln/>
        </p:spPr>
        <p:txBody>
          <a:bodyPr wrap="square" lIns="0" tIns="0" rIns="0" bIns="0" rtlCol="0" anchor="ctr"/>
          <a:lstStyle/>
          <a:p>
            <a:pPr marL="0" indent="0">
              <a:buNone/>
            </a:pPr>
            <a:r>
              <a:rPr lang="en-US" sz="1150">
                <a:solidFill>
                  <a:srgbClr val="9AA5B5"/>
                </a:solidFill>
                <a:latin typeface="Eurostile" pitchFamily="34" charset="0"/>
                <a:ea typeface="Eurostile" pitchFamily="34" charset="-122"/>
                <a:cs typeface="Eurostile" pitchFamily="34" charset="-120"/>
              </a:rPr>
              <a:t>n = 100, across two years only.</a:t>
            </a:r>
            <a:endParaRPr lang="en-US" sz="1150"/>
          </a:p>
        </p:txBody>
      </p:sp>
      <p:sp>
        <p:nvSpPr>
          <p:cNvPr id="20" name="Text 18"/>
          <p:cNvSpPr/>
          <p:nvPr/>
        </p:nvSpPr>
        <p:spPr>
          <a:xfrm>
            <a:off x="6446520" y="2377440"/>
            <a:ext cx="5166360" cy="256032"/>
          </a:xfrm>
          <a:prstGeom prst="rect">
            <a:avLst/>
          </a:prstGeom>
          <a:noFill/>
          <a:ln/>
        </p:spPr>
        <p:txBody>
          <a:bodyPr wrap="square" lIns="0" tIns="0" rIns="0" bIns="0" rtlCol="0" anchor="ctr"/>
          <a:lstStyle/>
          <a:p>
            <a:pPr marL="0" indent="0">
              <a:buNone/>
            </a:pPr>
            <a:r>
              <a:rPr lang="en-US" sz="1350" b="1">
                <a:solidFill>
                  <a:srgbClr val="E7EAEF"/>
                </a:solidFill>
                <a:latin typeface="Eurostile" pitchFamily="34" charset="0"/>
                <a:ea typeface="Eurostile" pitchFamily="34" charset="-122"/>
                <a:cs typeface="Eurostile" pitchFamily="34" charset="-120"/>
              </a:rPr>
              <a:t>One shock dominates</a:t>
            </a:r>
            <a:endParaRPr lang="en-US" sz="1350"/>
          </a:p>
        </p:txBody>
      </p:sp>
      <p:sp>
        <p:nvSpPr>
          <p:cNvPr id="21" name="Text 19"/>
          <p:cNvSpPr/>
          <p:nvPr/>
        </p:nvSpPr>
        <p:spPr>
          <a:xfrm>
            <a:off x="6446520" y="2633472"/>
            <a:ext cx="5166360" cy="274320"/>
          </a:xfrm>
          <a:prstGeom prst="rect">
            <a:avLst/>
          </a:prstGeom>
          <a:noFill/>
          <a:ln/>
        </p:spPr>
        <p:txBody>
          <a:bodyPr wrap="square" lIns="0" tIns="0" rIns="0" bIns="0" rtlCol="0" anchor="ctr"/>
          <a:lstStyle/>
          <a:p>
            <a:pPr marL="0" indent="0">
              <a:buNone/>
            </a:pPr>
            <a:r>
              <a:rPr lang="en-US" sz="1150">
                <a:solidFill>
                  <a:srgbClr val="9AA5B5"/>
                </a:solidFill>
                <a:latin typeface="Eurostile" pitchFamily="34" charset="0"/>
                <a:ea typeface="Eurostile" pitchFamily="34" charset="-122"/>
                <a:cs typeface="Eurostile" pitchFamily="34" charset="-120"/>
              </a:rPr>
              <a:t>Russia to EU, 2022: a 9.5σ residual.</a:t>
            </a:r>
            <a:endParaRPr lang="en-US" sz="1150"/>
          </a:p>
        </p:txBody>
      </p:sp>
      <p:sp>
        <p:nvSpPr>
          <p:cNvPr id="22" name="Text 20"/>
          <p:cNvSpPr/>
          <p:nvPr/>
        </p:nvSpPr>
        <p:spPr>
          <a:xfrm>
            <a:off x="6446520" y="2944368"/>
            <a:ext cx="5166360" cy="256032"/>
          </a:xfrm>
          <a:prstGeom prst="rect">
            <a:avLst/>
          </a:prstGeom>
          <a:noFill/>
          <a:ln/>
        </p:spPr>
        <p:txBody>
          <a:bodyPr wrap="square" lIns="0" tIns="0" rIns="0" bIns="0" rtlCol="0" anchor="ctr"/>
          <a:lstStyle/>
          <a:p>
            <a:pPr marL="0" indent="0">
              <a:buNone/>
            </a:pPr>
            <a:r>
              <a:rPr lang="en-US" sz="1350" b="1">
                <a:solidFill>
                  <a:srgbClr val="E7EAEF"/>
                </a:solidFill>
                <a:latin typeface="Eurostile" pitchFamily="34" charset="0"/>
                <a:ea typeface="Eurostile" pitchFamily="34" charset="-122"/>
                <a:cs typeface="Eurostile" pitchFamily="34" charset="-120"/>
              </a:rPr>
              <a:t>MAE over R²</a:t>
            </a:r>
            <a:endParaRPr lang="en-US" sz="1350"/>
          </a:p>
        </p:txBody>
      </p:sp>
      <p:sp>
        <p:nvSpPr>
          <p:cNvPr id="23" name="Text 21"/>
          <p:cNvSpPr/>
          <p:nvPr/>
        </p:nvSpPr>
        <p:spPr>
          <a:xfrm>
            <a:off x="6446520" y="3200400"/>
            <a:ext cx="5166360" cy="274320"/>
          </a:xfrm>
          <a:prstGeom prst="rect">
            <a:avLst/>
          </a:prstGeom>
          <a:noFill/>
          <a:ln/>
        </p:spPr>
        <p:txBody>
          <a:bodyPr wrap="square" lIns="0" tIns="0" rIns="0" bIns="0" rtlCol="0" anchor="ctr"/>
          <a:lstStyle/>
          <a:p>
            <a:pPr marL="0" indent="0">
              <a:buNone/>
            </a:pPr>
            <a:r>
              <a:rPr lang="en-US" sz="1150">
                <a:solidFill>
                  <a:srgbClr val="9AA5B5"/>
                </a:solidFill>
                <a:latin typeface="Eurostile" pitchFamily="34" charset="0"/>
                <a:ea typeface="Eurostile" pitchFamily="34" charset="-122"/>
                <a:cs typeface="Eurostile" pitchFamily="34" charset="-120"/>
              </a:rPr>
              <a:t>R² is unstable at this sample size.</a:t>
            </a:r>
            <a:endParaRPr lang="en-US" sz="1150"/>
          </a:p>
        </p:txBody>
      </p:sp>
      <p:sp>
        <p:nvSpPr>
          <p:cNvPr id="24" name="Text 22"/>
          <p:cNvSpPr/>
          <p:nvPr/>
        </p:nvSpPr>
        <p:spPr>
          <a:xfrm>
            <a:off x="6446520" y="3511296"/>
            <a:ext cx="5166360" cy="256032"/>
          </a:xfrm>
          <a:prstGeom prst="rect">
            <a:avLst/>
          </a:prstGeom>
          <a:noFill/>
          <a:ln/>
        </p:spPr>
        <p:txBody>
          <a:bodyPr wrap="square" lIns="0" tIns="0" rIns="0" bIns="0" rtlCol="0" anchor="ctr"/>
          <a:lstStyle/>
          <a:p>
            <a:pPr marL="0" indent="0">
              <a:buNone/>
            </a:pPr>
            <a:r>
              <a:rPr lang="en-US" sz="1350" b="1">
                <a:solidFill>
                  <a:srgbClr val="E7EAEF"/>
                </a:solidFill>
                <a:latin typeface="Eurostile" pitchFamily="34" charset="0"/>
                <a:ea typeface="Eurostile" pitchFamily="34" charset="-122"/>
                <a:cs typeface="Eurostile" pitchFamily="34" charset="-120"/>
              </a:rPr>
              <a:t>Features dropped</a:t>
            </a:r>
            <a:endParaRPr lang="en-US" sz="1350"/>
          </a:p>
        </p:txBody>
      </p:sp>
      <p:sp>
        <p:nvSpPr>
          <p:cNvPr id="25" name="Text 23"/>
          <p:cNvSpPr/>
          <p:nvPr/>
        </p:nvSpPr>
        <p:spPr>
          <a:xfrm>
            <a:off x="6446520" y="3767328"/>
            <a:ext cx="5166360" cy="274320"/>
          </a:xfrm>
          <a:prstGeom prst="rect">
            <a:avLst/>
          </a:prstGeom>
          <a:noFill/>
          <a:ln/>
        </p:spPr>
        <p:txBody>
          <a:bodyPr wrap="square" lIns="0" tIns="0" rIns="0" bIns="0" rtlCol="0" anchor="ctr"/>
          <a:lstStyle/>
          <a:p>
            <a:pPr marL="0" indent="0">
              <a:buNone/>
            </a:pPr>
            <a:r>
              <a:rPr lang="en-US" sz="1150">
                <a:solidFill>
                  <a:srgbClr val="9AA5B5"/>
                </a:solidFill>
                <a:latin typeface="Eurostile" pitchFamily="34" charset="0"/>
                <a:ea typeface="Eurostile" pitchFamily="34" charset="-122"/>
                <a:cs typeface="Eurostile" pitchFamily="34" charset="-120"/>
              </a:rPr>
              <a:t>Shipping and commodity columns never entered.</a:t>
            </a:r>
            <a:endParaRPr lang="en-US" sz="1150"/>
          </a:p>
        </p:txBody>
      </p:sp>
      <p:sp>
        <p:nvSpPr>
          <p:cNvPr id="26" name="Shape 24"/>
          <p:cNvSpPr/>
          <p:nvPr/>
        </p:nvSpPr>
        <p:spPr>
          <a:xfrm>
            <a:off x="6446520" y="4224528"/>
            <a:ext cx="5166360" cy="1371600"/>
          </a:xfrm>
          <a:prstGeom prst="roundRect">
            <a:avLst>
              <a:gd name="adj" fmla="val 4000"/>
            </a:avLst>
          </a:prstGeom>
          <a:solidFill>
            <a:srgbClr val="171C25"/>
          </a:solidFill>
          <a:ln w="12700">
            <a:solidFill>
              <a:srgbClr val="232A34"/>
            </a:solidFill>
            <a:prstDash val="solid"/>
          </a:ln>
        </p:spPr>
        <p:txBody>
          <a:bodyPr/>
          <a:lstStyle/>
          <a:p>
            <a:endParaRPr lang="en-US"/>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611112" y="4370832"/>
          <a:ext cx="4837176" cy="905256"/>
        </p:xfrm>
        <a:graphic>
          <a:graphicData uri="http://schemas.openxmlformats.org/drawingml/2006/table">
            <a:tbl>
              <a:tblPr/>
              <a:tblGrid>
                <a:gridCol w="2788920">
                  <a:extLst>
                    <a:ext uri="{9D8B030D-6E8A-4147-A177-3AD203B41FA5}">
                      <a16:colId xmlns:a16="http://schemas.microsoft.com/office/drawing/2014/main" val="20000"/>
                    </a:ext>
                  </a:extLst>
                </a:gridCol>
                <a:gridCol w="1024128">
                  <a:extLst>
                    <a:ext uri="{9D8B030D-6E8A-4147-A177-3AD203B41FA5}">
                      <a16:colId xmlns:a16="http://schemas.microsoft.com/office/drawing/2014/main" val="20001"/>
                    </a:ext>
                  </a:extLst>
                </a:gridCol>
                <a:gridCol w="1024128">
                  <a:extLst>
                    <a:ext uri="{9D8B030D-6E8A-4147-A177-3AD203B41FA5}">
                      <a16:colId xmlns:a16="http://schemas.microsoft.com/office/drawing/2014/main" val="20002"/>
                    </a:ext>
                  </a:extLst>
                </a:gridCol>
              </a:tblGrid>
              <a:tr h="301752">
                <a:tc>
                  <a:txBody>
                    <a:bodyPr/>
                    <a:lstStyle/>
                    <a:p>
                      <a:pPr marL="0" indent="0">
                        <a:buNone/>
                      </a:pPr>
                      <a:r>
                        <a:rPr lang="en-US" sz="950" b="1">
                          <a:solidFill>
                            <a:srgbClr val="9AA5B5"/>
                          </a:solidFill>
                          <a:latin typeface="Eurostile" pitchFamily="34" charset="0"/>
                          <a:ea typeface="Eurostile" pitchFamily="34" charset="-122"/>
                          <a:cs typeface="Eurostile" pitchFamily="34" charset="-120"/>
                        </a:rPr>
                        <a:t>OUTLIER SENSITIVITY</a:t>
                      </a:r>
                      <a:endParaRPr lang="en-US" sz="950">
                        <a:latin typeface="Eurostile" charset="0"/>
                        <a:ea typeface="Eurostile" charset="0"/>
                        <a:cs typeface="Eurostile" charset="0"/>
                      </a:endParaRPr>
                    </a:p>
                  </a:txBody>
                  <a:tcPr>
                    <a:lnL w="0" cap="flat" cmpd="sng" algn="ctr">
                      <a:noFill/>
                    </a:lnL>
                    <a:lnR w="0" cap="flat" cmpd="sng" algn="ctr">
                      <a:noFill/>
                    </a:lnR>
                    <a:lnT w="0" cap="flat" cmpd="sng" algn="ctr">
                      <a:noFill/>
                    </a:lnT>
                    <a:lnB w="0" cap="flat" cmpd="sng" algn="ctr">
                      <a:noFill/>
                    </a:lnB>
                    <a:solidFill>
                      <a:srgbClr val="171C25"/>
                    </a:solidFill>
                  </a:tcPr>
                </a:tc>
                <a:tc>
                  <a:txBody>
                    <a:bodyPr/>
                    <a:lstStyle/>
                    <a:p>
                      <a:pPr marL="0" indent="0" algn="r">
                        <a:buNone/>
                      </a:pPr>
                      <a:r>
                        <a:rPr lang="en-US" sz="950" b="1">
                          <a:solidFill>
                            <a:srgbClr val="9AA5B5"/>
                          </a:solidFill>
                          <a:latin typeface="Eurostile" pitchFamily="34" charset="0"/>
                          <a:ea typeface="Eurostile" pitchFamily="34" charset="-122"/>
                          <a:cs typeface="Eurostile" pitchFamily="34" charset="-120"/>
                        </a:rPr>
                        <a:t>MAE</a:t>
                      </a:r>
                      <a:endParaRPr lang="en-US" sz="950">
                        <a:latin typeface="Eurostile" charset="0"/>
                        <a:ea typeface="Eurostile" charset="0"/>
                        <a:cs typeface="Eurostile" charset="0"/>
                      </a:endParaRPr>
                    </a:p>
                  </a:txBody>
                  <a:tcPr>
                    <a:lnL w="0" cap="flat" cmpd="sng" algn="ctr">
                      <a:noFill/>
                    </a:lnL>
                    <a:lnR w="0" cap="flat" cmpd="sng" algn="ctr">
                      <a:noFill/>
                    </a:lnR>
                    <a:lnT w="0" cap="flat" cmpd="sng" algn="ctr">
                      <a:noFill/>
                    </a:lnT>
                    <a:lnB w="0" cap="flat" cmpd="sng" algn="ctr">
                      <a:noFill/>
                    </a:lnB>
                    <a:solidFill>
                      <a:srgbClr val="171C25"/>
                    </a:solidFill>
                  </a:tcPr>
                </a:tc>
                <a:tc>
                  <a:txBody>
                    <a:bodyPr/>
                    <a:lstStyle/>
                    <a:p>
                      <a:pPr marL="0" indent="0" algn="r">
                        <a:buNone/>
                      </a:pPr>
                      <a:r>
                        <a:rPr lang="en-US" sz="950" b="1">
                          <a:solidFill>
                            <a:srgbClr val="9AA5B5"/>
                          </a:solidFill>
                          <a:latin typeface="Eurostile" pitchFamily="34" charset="0"/>
                          <a:ea typeface="Eurostile" pitchFamily="34" charset="-122"/>
                          <a:cs typeface="Eurostile" pitchFamily="34" charset="-120"/>
                        </a:rPr>
                        <a:t>RMSE</a:t>
                      </a:r>
                      <a:endParaRPr lang="en-US" sz="950">
                        <a:latin typeface="Eurostile" charset="0"/>
                        <a:ea typeface="Eurostile" charset="0"/>
                        <a:cs typeface="Eurostile" charset="0"/>
                      </a:endParaRPr>
                    </a:p>
                  </a:txBody>
                  <a:tcPr>
                    <a:lnL w="0" cap="flat" cmpd="sng" algn="ctr">
                      <a:noFill/>
                    </a:lnL>
                    <a:lnR w="0" cap="flat" cmpd="sng" algn="ctr">
                      <a:noFill/>
                    </a:lnR>
                    <a:lnT w="0" cap="flat" cmpd="sng" algn="ctr">
                      <a:noFill/>
                    </a:lnT>
                    <a:lnB w="0" cap="flat" cmpd="sng" algn="ctr">
                      <a:noFill/>
                    </a:lnB>
                    <a:solidFill>
                      <a:srgbClr val="171C25"/>
                    </a:solidFill>
                  </a:tcPr>
                </a:tc>
                <a:extLst>
                  <a:ext uri="{0D108BD9-81ED-4DB2-BD59-A6C34878D82A}">
                    <a16:rowId xmlns:a16="http://schemas.microsoft.com/office/drawing/2014/main" val="10000"/>
                  </a:ext>
                </a:extLst>
              </a:tr>
              <a:tr h="301752">
                <a:tc>
                  <a:txBody>
                    <a:bodyPr/>
                    <a:lstStyle/>
                    <a:p>
                      <a:pPr marL="0" indent="0">
                        <a:buNone/>
                      </a:pPr>
                      <a:r>
                        <a:rPr lang="en-US" sz="1100">
                          <a:solidFill>
                            <a:srgbClr val="E7EAEF"/>
                          </a:solidFill>
                          <a:latin typeface="Eurostile" pitchFamily="34" charset="0"/>
                          <a:ea typeface="Eurostile" pitchFamily="34" charset="-122"/>
                          <a:cs typeface="Eurostile" pitchFamily="34" charset="-120"/>
                        </a:rPr>
                        <a:t>All test observations</a:t>
                      </a:r>
                      <a:endParaRPr lang="en-US" sz="1100">
                        <a:latin typeface="Eurostile" charset="0"/>
                        <a:ea typeface="Eurostile" charset="0"/>
                        <a:cs typeface="Eurostile" charset="0"/>
                      </a:endParaRPr>
                    </a:p>
                  </a:txBody>
                  <a:tcPr>
                    <a:lnL w="0" cap="flat" cmpd="sng" algn="ctr">
                      <a:noFill/>
                    </a:lnL>
                    <a:lnR w="0" cap="flat" cmpd="sng" algn="ctr">
                      <a:noFill/>
                    </a:lnR>
                    <a:lnT w="0" cap="flat" cmpd="sng" algn="ctr">
                      <a:noFill/>
                    </a:lnT>
                    <a:lnB w="0" cap="flat" cmpd="sng" algn="ctr">
                      <a:noFill/>
                    </a:lnB>
                    <a:solidFill>
                      <a:srgbClr val="171C25"/>
                    </a:solidFill>
                  </a:tcPr>
                </a:tc>
                <a:tc>
                  <a:txBody>
                    <a:bodyPr/>
                    <a:lstStyle/>
                    <a:p>
                      <a:pPr marL="0" indent="0" algn="r">
                        <a:buNone/>
                      </a:pPr>
                      <a:r>
                        <a:rPr lang="en-US" sz="1100">
                          <a:solidFill>
                            <a:srgbClr val="E7EAEF"/>
                          </a:solidFill>
                          <a:latin typeface="Eurostile" pitchFamily="34" charset="0"/>
                          <a:ea typeface="Eurostile" pitchFamily="34" charset="-122"/>
                          <a:cs typeface="Eurostile" pitchFamily="34" charset="-120"/>
                        </a:rPr>
                        <a:t>6.75</a:t>
                      </a:r>
                      <a:endParaRPr lang="en-US" sz="1100">
                        <a:latin typeface="Eurostile" charset="0"/>
                        <a:ea typeface="Eurostile" charset="0"/>
                        <a:cs typeface="Eurostile" charset="0"/>
                      </a:endParaRPr>
                    </a:p>
                  </a:txBody>
                  <a:tcPr>
                    <a:lnL w="0" cap="flat" cmpd="sng" algn="ctr">
                      <a:noFill/>
                    </a:lnL>
                    <a:lnR w="0" cap="flat" cmpd="sng" algn="ctr">
                      <a:noFill/>
                    </a:lnR>
                    <a:lnT w="0" cap="flat" cmpd="sng" algn="ctr">
                      <a:noFill/>
                    </a:lnT>
                    <a:lnB w="0" cap="flat" cmpd="sng" algn="ctr">
                      <a:noFill/>
                    </a:lnB>
                    <a:solidFill>
                      <a:srgbClr val="171C25"/>
                    </a:solidFill>
                  </a:tcPr>
                </a:tc>
                <a:tc>
                  <a:txBody>
                    <a:bodyPr/>
                    <a:lstStyle/>
                    <a:p>
                      <a:pPr marL="0" indent="0" algn="r">
                        <a:buNone/>
                      </a:pPr>
                      <a:r>
                        <a:rPr lang="en-US" sz="1100">
                          <a:solidFill>
                            <a:srgbClr val="E7EAEF"/>
                          </a:solidFill>
                          <a:latin typeface="Eurostile" pitchFamily="34" charset="0"/>
                          <a:ea typeface="Eurostile" pitchFamily="34" charset="-122"/>
                          <a:cs typeface="Eurostile" pitchFamily="34" charset="-120"/>
                        </a:rPr>
                        <a:t>20.90</a:t>
                      </a:r>
                      <a:endParaRPr lang="en-US" sz="1100">
                        <a:latin typeface="Eurostile" charset="0"/>
                        <a:ea typeface="Eurostile" charset="0"/>
                        <a:cs typeface="Eurostile" charset="0"/>
                      </a:endParaRPr>
                    </a:p>
                  </a:txBody>
                  <a:tcPr>
                    <a:lnL w="0" cap="flat" cmpd="sng" algn="ctr">
                      <a:noFill/>
                    </a:lnL>
                    <a:lnR w="0" cap="flat" cmpd="sng" algn="ctr">
                      <a:noFill/>
                    </a:lnR>
                    <a:lnT w="0" cap="flat" cmpd="sng" algn="ctr">
                      <a:noFill/>
                    </a:lnT>
                    <a:lnB w="0" cap="flat" cmpd="sng" algn="ctr">
                      <a:noFill/>
                    </a:lnB>
                    <a:solidFill>
                      <a:srgbClr val="171C25"/>
                    </a:solidFill>
                  </a:tcPr>
                </a:tc>
                <a:extLst>
                  <a:ext uri="{0D108BD9-81ED-4DB2-BD59-A6C34878D82A}">
                    <a16:rowId xmlns:a16="http://schemas.microsoft.com/office/drawing/2014/main" val="10001"/>
                  </a:ext>
                </a:extLst>
              </a:tr>
              <a:tr h="301752">
                <a:tc>
                  <a:txBody>
                    <a:bodyPr/>
                    <a:lstStyle/>
                    <a:p>
                      <a:pPr marL="0" indent="0">
                        <a:buNone/>
                      </a:pPr>
                      <a:r>
                        <a:rPr lang="en-US" sz="1100">
                          <a:solidFill>
                            <a:srgbClr val="46C2B4"/>
                          </a:solidFill>
                          <a:latin typeface="Eurostile" pitchFamily="34" charset="0"/>
                          <a:ea typeface="Eurostile" pitchFamily="34" charset="-122"/>
                          <a:cs typeface="Eurostile" pitchFamily="34" charset="-120"/>
                        </a:rPr>
                        <a:t>Excluding the one shock</a:t>
                      </a:r>
                      <a:endParaRPr lang="en-US" sz="1100">
                        <a:latin typeface="Eurostile" charset="0"/>
                        <a:ea typeface="Eurostile" charset="0"/>
                        <a:cs typeface="Eurostile" charset="0"/>
                      </a:endParaRPr>
                    </a:p>
                  </a:txBody>
                  <a:tcPr>
                    <a:lnL w="0" cap="flat" cmpd="sng" algn="ctr">
                      <a:noFill/>
                    </a:lnL>
                    <a:lnR w="0" cap="flat" cmpd="sng" algn="ctr">
                      <a:noFill/>
                    </a:lnR>
                    <a:lnT w="0" cap="flat" cmpd="sng" algn="ctr">
                      <a:noFill/>
                    </a:lnT>
                    <a:lnB w="0" cap="flat" cmpd="sng" algn="ctr">
                      <a:noFill/>
                    </a:lnB>
                    <a:solidFill>
                      <a:srgbClr val="171C25"/>
                    </a:solidFill>
                  </a:tcPr>
                </a:tc>
                <a:tc>
                  <a:txBody>
                    <a:bodyPr/>
                    <a:lstStyle/>
                    <a:p>
                      <a:pPr marL="0" indent="0" algn="r">
                        <a:buNone/>
                      </a:pPr>
                      <a:r>
                        <a:rPr lang="en-US" sz="1100" b="1">
                          <a:solidFill>
                            <a:srgbClr val="46C2B4"/>
                          </a:solidFill>
                          <a:latin typeface="Eurostile" pitchFamily="34" charset="0"/>
                          <a:ea typeface="Eurostile" pitchFamily="34" charset="-122"/>
                          <a:cs typeface="Eurostile" pitchFamily="34" charset="-120"/>
                        </a:rPr>
                        <a:t>4.80</a:t>
                      </a:r>
                      <a:endParaRPr lang="en-US" sz="1100">
                        <a:latin typeface="Eurostile" charset="0"/>
                        <a:ea typeface="Eurostile" charset="0"/>
                        <a:cs typeface="Eurostile" charset="0"/>
                      </a:endParaRPr>
                    </a:p>
                  </a:txBody>
                  <a:tcPr>
                    <a:lnL w="0" cap="flat" cmpd="sng" algn="ctr">
                      <a:noFill/>
                    </a:lnL>
                    <a:lnR w="0" cap="flat" cmpd="sng" algn="ctr">
                      <a:noFill/>
                    </a:lnR>
                    <a:lnT w="0" cap="flat" cmpd="sng" algn="ctr">
                      <a:noFill/>
                    </a:lnT>
                    <a:lnB w="0" cap="flat" cmpd="sng" algn="ctr">
                      <a:noFill/>
                    </a:lnB>
                    <a:solidFill>
                      <a:srgbClr val="171C25"/>
                    </a:solidFill>
                  </a:tcPr>
                </a:tc>
                <a:tc>
                  <a:txBody>
                    <a:bodyPr/>
                    <a:lstStyle/>
                    <a:p>
                      <a:pPr marL="0" indent="0" algn="r">
                        <a:buNone/>
                      </a:pPr>
                      <a:r>
                        <a:rPr lang="en-US" sz="1100" b="1">
                          <a:solidFill>
                            <a:srgbClr val="46C2B4"/>
                          </a:solidFill>
                          <a:latin typeface="Eurostile" pitchFamily="34" charset="0"/>
                          <a:ea typeface="Eurostile" pitchFamily="34" charset="-122"/>
                          <a:cs typeface="Eurostile" pitchFamily="34" charset="-120"/>
                        </a:rPr>
                        <a:t>6.05</a:t>
                      </a:r>
                      <a:endParaRPr lang="en-US" sz="1100">
                        <a:latin typeface="Eurostile" charset="0"/>
                        <a:ea typeface="Eurostile" charset="0"/>
                        <a:cs typeface="Eurostile" charset="0"/>
                      </a:endParaRPr>
                    </a:p>
                  </a:txBody>
                  <a:tcPr>
                    <a:lnL w="0" cap="flat" cmpd="sng" algn="ctr">
                      <a:noFill/>
                    </a:lnL>
                    <a:lnR w="0" cap="flat" cmpd="sng" algn="ctr">
                      <a:noFill/>
                    </a:lnR>
                    <a:lnT w="0" cap="flat" cmpd="sng" algn="ctr">
                      <a:noFill/>
                    </a:lnT>
                    <a:lnB w="0" cap="flat" cmpd="sng" algn="ctr">
                      <a:noFill/>
                    </a:lnB>
                    <a:solidFill>
                      <a:srgbClr val="171C25"/>
                    </a:solidFill>
                  </a:tcPr>
                </a:tc>
                <a:extLst>
                  <a:ext uri="{0D108BD9-81ED-4DB2-BD59-A6C34878D82A}">
                    <a16:rowId xmlns:a16="http://schemas.microsoft.com/office/drawing/2014/main" val="10002"/>
                  </a:ext>
                </a:extLst>
              </a:tr>
            </a:tbl>
          </a:graphicData>
        </a:graphic>
      </p:graphicFrame>
      <p:sp>
        <p:nvSpPr>
          <p:cNvPr id="28" name="Text 25"/>
          <p:cNvSpPr/>
          <p:nvPr/>
        </p:nvSpPr>
        <p:spPr>
          <a:xfrm>
            <a:off x="566928" y="5623560"/>
            <a:ext cx="10881360" cy="411480"/>
          </a:xfrm>
          <a:prstGeom prst="rect">
            <a:avLst/>
          </a:prstGeom>
          <a:noFill/>
          <a:ln/>
        </p:spPr>
        <p:txBody>
          <a:bodyPr wrap="square" lIns="0" tIns="0" rIns="0" bIns="0" rtlCol="0" anchor="ctr"/>
          <a:lstStyle/>
          <a:p>
            <a:pPr marL="0" indent="0">
              <a:buNone/>
            </a:pPr>
            <a:r>
              <a:rPr lang="en-US" sz="1500" b="1">
                <a:solidFill>
                  <a:srgbClr val="E0973F"/>
                </a:solidFill>
                <a:latin typeface="Eurostile" pitchFamily="34" charset="0"/>
                <a:ea typeface="Eurostile" pitchFamily="34" charset="-122"/>
                <a:cs typeface="Eurostile" pitchFamily="34" charset="-120"/>
              </a:rPr>
              <a:t>Two tools, tested against each other, not just against themselves.</a:t>
            </a:r>
            <a:endParaRPr lang="en-US" sz="15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1151B"/>
        </a:solidFill>
        <a:effectLst/>
      </p:bgPr>
    </p:bg>
    <p:spTree>
      <p:nvGrpSpPr>
        <p:cNvPr id="1" name=""/>
        <p:cNvGrpSpPr/>
        <p:nvPr/>
      </p:nvGrpSpPr>
      <p:grpSpPr>
        <a:xfrm>
          <a:off x="0" y="0"/>
          <a:ext cx="0" cy="0"/>
          <a:chOff x="0" y="0"/>
          <a:chExt cx="0" cy="0"/>
        </a:xfrm>
      </p:grpSpPr>
      <p:sp>
        <p:nvSpPr>
          <p:cNvPr id="2" name="Text 0"/>
          <p:cNvSpPr/>
          <p:nvPr/>
        </p:nvSpPr>
        <p:spPr>
          <a:xfrm>
            <a:off x="566928" y="2743200"/>
            <a:ext cx="10881360" cy="822960"/>
          </a:xfrm>
          <a:prstGeom prst="rect">
            <a:avLst/>
          </a:prstGeom>
          <a:noFill/>
          <a:ln/>
        </p:spPr>
        <p:txBody>
          <a:bodyPr wrap="square" lIns="0" tIns="0" rIns="0" bIns="0" rtlCol="0" anchor="ctr"/>
          <a:lstStyle/>
          <a:p>
            <a:pPr marL="0" indent="0">
              <a:buNone/>
            </a:pPr>
            <a:r>
              <a:rPr lang="en-US" sz="4000" b="1">
                <a:solidFill>
                  <a:srgbClr val="E7EAEF"/>
                </a:solidFill>
                <a:latin typeface="Eurostile" pitchFamily="34" charset="0"/>
                <a:ea typeface="Eurostile" pitchFamily="34" charset="-122"/>
                <a:cs typeface="Eurostile" pitchFamily="34" charset="-120"/>
              </a:rPr>
              <a:t>Questions</a:t>
            </a:r>
            <a:endParaRPr lang="en-US" sz="4000"/>
          </a:p>
        </p:txBody>
      </p:sp>
      <p:sp>
        <p:nvSpPr>
          <p:cNvPr id="3" name="Text 1"/>
          <p:cNvSpPr/>
          <p:nvPr/>
        </p:nvSpPr>
        <p:spPr>
          <a:xfrm>
            <a:off x="566928" y="3657600"/>
            <a:ext cx="9601200" cy="548640"/>
          </a:xfrm>
          <a:prstGeom prst="rect">
            <a:avLst/>
          </a:prstGeom>
          <a:noFill/>
          <a:ln/>
        </p:spPr>
        <p:txBody>
          <a:bodyPr wrap="square" lIns="0" tIns="0" rIns="0" bIns="0" rtlCol="0" anchor="ctr"/>
          <a:lstStyle/>
          <a:p>
            <a:pPr marL="0" indent="0">
              <a:buNone/>
            </a:pPr>
            <a:r>
              <a:rPr lang="en-US" sz="2200" b="1">
                <a:solidFill>
                  <a:srgbClr val="E0973F"/>
                </a:solidFill>
                <a:latin typeface="Eurostile" pitchFamily="34" charset="0"/>
                <a:ea typeface="Eurostile" pitchFamily="34" charset="-122"/>
                <a:cs typeface="Eurostile" pitchFamily="34" charset="-120"/>
              </a:rPr>
              <a:t>Thank you!</a:t>
            </a:r>
            <a:endParaRPr lang="en-US" sz="2200"/>
          </a:p>
        </p:txBody>
      </p:sp>
      <p:sp>
        <p:nvSpPr>
          <p:cNvPr id="4" name="Shape 2"/>
          <p:cNvSpPr/>
          <p:nvPr/>
        </p:nvSpPr>
        <p:spPr>
          <a:xfrm>
            <a:off x="566928" y="2487168"/>
            <a:ext cx="1371600" cy="50292"/>
          </a:xfrm>
          <a:prstGeom prst="rect">
            <a:avLst/>
          </a:prstGeom>
          <a:solidFill>
            <a:srgbClr val="46C2B4"/>
          </a:solidFill>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1151B"/>
        </a:solidFill>
        <a:effectLst/>
      </p:bgPr>
    </p:bg>
    <p:spTree>
      <p:nvGrpSpPr>
        <p:cNvPr id="1" name=""/>
        <p:cNvGrpSpPr/>
        <p:nvPr/>
      </p:nvGrpSpPr>
      <p:grpSpPr>
        <a:xfrm>
          <a:off x="0" y="0"/>
          <a:ext cx="0" cy="0"/>
          <a:chOff x="0" y="0"/>
          <a:chExt cx="0" cy="0"/>
        </a:xfrm>
      </p:grpSpPr>
      <p:sp>
        <p:nvSpPr>
          <p:cNvPr id="2" name="Text 0"/>
          <p:cNvSpPr/>
          <p:nvPr/>
        </p:nvSpPr>
        <p:spPr>
          <a:xfrm>
            <a:off x="7955280" y="384048"/>
            <a:ext cx="3657600" cy="237744"/>
          </a:xfrm>
          <a:prstGeom prst="rect">
            <a:avLst/>
          </a:prstGeom>
          <a:noFill/>
          <a:ln/>
        </p:spPr>
        <p:txBody>
          <a:bodyPr wrap="square" lIns="0" tIns="0" rIns="0" bIns="0" rtlCol="0" anchor="ctr"/>
          <a:lstStyle/>
          <a:p>
            <a:pPr marL="0" indent="0" algn="r">
              <a:buNone/>
            </a:pPr>
            <a:r>
              <a:rPr lang="en-US" sz="1050" b="1" kern="0" spc="140">
                <a:solidFill>
                  <a:srgbClr val="6B7686"/>
                </a:solidFill>
                <a:latin typeface="Eurostile" pitchFamily="34" charset="0"/>
                <a:ea typeface="Eurostile" pitchFamily="34" charset="-122"/>
                <a:cs typeface="Eurostile" pitchFamily="34" charset="-120"/>
              </a:rPr>
              <a:t>BACKUP · NOT PRESENTED</a:t>
            </a:r>
            <a:endParaRPr lang="en-US" sz="1050"/>
          </a:p>
        </p:txBody>
      </p:sp>
      <p:sp>
        <p:nvSpPr>
          <p:cNvPr id="3" name="Text 1"/>
          <p:cNvSpPr/>
          <p:nvPr/>
        </p:nvSpPr>
        <p:spPr>
          <a:xfrm>
            <a:off x="566928" y="384048"/>
            <a:ext cx="8686800" cy="237744"/>
          </a:xfrm>
          <a:prstGeom prst="rect">
            <a:avLst/>
          </a:prstGeom>
          <a:noFill/>
          <a:ln/>
        </p:spPr>
        <p:txBody>
          <a:bodyPr wrap="square" lIns="0" tIns="0" rIns="0" bIns="0" rtlCol="0" anchor="ctr"/>
          <a:lstStyle/>
          <a:p>
            <a:pPr marL="0" indent="0">
              <a:buNone/>
            </a:pPr>
            <a:r>
              <a:rPr lang="en-US" sz="1150" b="1" kern="0" spc="160">
                <a:solidFill>
                  <a:srgbClr val="7186A6"/>
                </a:solidFill>
                <a:latin typeface="Eurostile" pitchFamily="34" charset="0"/>
                <a:ea typeface="Eurostile" pitchFamily="34" charset="-122"/>
                <a:cs typeface="Eurostile" pitchFamily="34" charset="-120"/>
              </a:rPr>
              <a:t>BACKUP 01 · WHY WE DISTRUST THE MODEL'S SELF-REPORT</a:t>
            </a:r>
            <a:endParaRPr lang="en-US" sz="1150"/>
          </a:p>
        </p:txBody>
      </p:sp>
      <p:sp>
        <p:nvSpPr>
          <p:cNvPr id="4" name="Text 2"/>
          <p:cNvSpPr/>
          <p:nvPr/>
        </p:nvSpPr>
        <p:spPr>
          <a:xfrm>
            <a:off x="566928" y="658368"/>
            <a:ext cx="10972800" cy="658368"/>
          </a:xfrm>
          <a:prstGeom prst="rect">
            <a:avLst/>
          </a:prstGeom>
          <a:noFill/>
          <a:ln/>
        </p:spPr>
        <p:txBody>
          <a:bodyPr wrap="square" lIns="0" tIns="0" rIns="0" bIns="0" rtlCol="0" anchor="ctr"/>
          <a:lstStyle/>
          <a:p>
            <a:pPr marL="0" indent="0">
              <a:buNone/>
            </a:pPr>
            <a:r>
              <a:rPr lang="en-US" sz="3000" b="1">
                <a:solidFill>
                  <a:srgbClr val="E7EAEF"/>
                </a:solidFill>
                <a:latin typeface="Eurostile" pitchFamily="34" charset="0"/>
                <a:ea typeface="Eurostile" pitchFamily="34" charset="-122"/>
                <a:cs typeface="Eurostile" pitchFamily="34" charset="-120"/>
              </a:rPr>
              <a:t>Feature importance: built-in vs. permutation</a:t>
            </a:r>
            <a:endParaRPr lang="en-US" sz="3000"/>
          </a:p>
        </p:txBody>
      </p:sp>
      <p:sp>
        <p:nvSpPr>
          <p:cNvPr id="6" name="Text 3"/>
          <p:cNvSpPr/>
          <p:nvPr/>
        </p:nvSpPr>
        <p:spPr>
          <a:xfrm>
            <a:off x="566928" y="5074920"/>
            <a:ext cx="10881360" cy="1280160"/>
          </a:xfrm>
          <a:prstGeom prst="rect">
            <a:avLst/>
          </a:prstGeom>
          <a:noFill/>
          <a:ln/>
        </p:spPr>
        <p:txBody>
          <a:bodyPr wrap="square" lIns="0" tIns="0" rIns="0" bIns="0" rtlCol="0" anchor="ctr"/>
          <a:lstStyle/>
          <a:p>
            <a:pPr marL="177800" indent="-177800">
              <a:lnSpc>
                <a:spcPts val="2100"/>
              </a:lnSpc>
              <a:spcAft>
                <a:spcPts val="1100"/>
              </a:spcAft>
              <a:buSzPct val="100000"/>
              <a:buChar char="•"/>
            </a:pPr>
            <a:r>
              <a:rPr lang="en-US" sz="1400">
                <a:solidFill>
                  <a:srgbClr val="E7EAEF"/>
                </a:solidFill>
                <a:latin typeface="Eurostile"/>
                <a:ea typeface="Eurostile" pitchFamily="34" charset="-122"/>
                <a:cs typeface="Eurostile" pitchFamily="34" charset="-120"/>
              </a:rPr>
              <a:t>Built-in (impurity) importance measures how often a feature was USED in training; permutation importance measures whether shuffling it HURTS predictions on unseen data</a:t>
            </a:r>
            <a:endParaRPr lang="en-US" sz="1400">
              <a:solidFill>
                <a:srgbClr val="000000"/>
              </a:solidFill>
              <a:latin typeface="Eurostile"/>
              <a:ea typeface="Calibri" panose="020F0502020204030204"/>
              <a:cs typeface="Calibri" panose="020F0502020204030204"/>
            </a:endParaRPr>
          </a:p>
          <a:p>
            <a:pPr marL="177800" indent="-177800">
              <a:lnSpc>
                <a:spcPts val="2100"/>
              </a:lnSpc>
              <a:spcAft>
                <a:spcPts val="1100"/>
              </a:spcAft>
              <a:buSzPct val="100000"/>
              <a:buChar char="•"/>
            </a:pPr>
            <a:r>
              <a:rPr lang="en-US" sz="1400" err="1">
                <a:solidFill>
                  <a:srgbClr val="E7EAEF"/>
                </a:solidFill>
                <a:latin typeface="Calibri"/>
                <a:ea typeface="Calibri"/>
                <a:cs typeface="Calibri"/>
              </a:rPr>
              <a:t>avg</a:t>
            </a:r>
            <a:r>
              <a:rPr lang="en-US" sz="1400" err="1">
                <a:solidFill>
                  <a:srgbClr val="E7EAEF"/>
                </a:solidFill>
                <a:ea typeface="+mn-lt"/>
                <a:cs typeface="+mn-lt"/>
              </a:rPr>
              <a:t>_supply_chain_pressure</a:t>
            </a:r>
            <a:r>
              <a:rPr lang="en-US" sz="1400">
                <a:solidFill>
                  <a:srgbClr val="E7EAEF"/>
                </a:solidFill>
                <a:ea typeface="+mn-lt"/>
                <a:cs typeface="+mn-lt"/>
              </a:rPr>
              <a:t>: 25.6% built-in importance, but −0.09 permutation, because it is a year-level variable identical across all 50 corridors</a:t>
            </a:r>
            <a:endParaRPr lang="en-US" sz="1400">
              <a:solidFill>
                <a:srgbClr val="000000"/>
              </a:solidFill>
              <a:ea typeface="+mn-lt"/>
              <a:cs typeface="+mn-lt"/>
            </a:endParaRPr>
          </a:p>
          <a:p>
            <a:pPr marL="177800" indent="-177800">
              <a:lnSpc>
                <a:spcPts val="2100"/>
              </a:lnSpc>
              <a:spcAft>
                <a:spcPts val="1100"/>
              </a:spcAft>
              <a:buSzPct val="100000"/>
              <a:buFontTx/>
              <a:buChar char="•"/>
            </a:pPr>
            <a:endParaRPr lang="en-US" sz="1300">
              <a:solidFill>
                <a:srgbClr val="E7EAEF"/>
              </a:solidFill>
              <a:latin typeface="Eurostile"/>
              <a:ea typeface="Calibri"/>
              <a:cs typeface="Calibri"/>
            </a:endParaRPr>
          </a:p>
        </p:txBody>
      </p:sp>
      <p:pic>
        <p:nvPicPr>
          <p:cNvPr id="7" name="Picture 6">
            <a:extLst>
              <a:ext uri="{FF2B5EF4-FFF2-40B4-BE49-F238E27FC236}">
                <a16:creationId xmlns:a16="http://schemas.microsoft.com/office/drawing/2014/main" id="{0FD9408C-486A-3151-D1D4-AB6A83940F7F}"/>
              </a:ext>
            </a:extLst>
          </p:cNvPr>
          <p:cNvPicPr>
            <a:picLocks noChangeAspect="1"/>
          </p:cNvPicPr>
          <p:nvPr/>
        </p:nvPicPr>
        <p:blipFill>
          <a:blip r:embed="rId3"/>
          <a:stretch>
            <a:fillRect/>
          </a:stretch>
        </p:blipFill>
        <p:spPr>
          <a:xfrm>
            <a:off x="1642369" y="1315750"/>
            <a:ext cx="8729709" cy="336092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1151B"/>
        </a:solidFill>
        <a:effectLst/>
      </p:bgPr>
    </p:bg>
    <p:spTree>
      <p:nvGrpSpPr>
        <p:cNvPr id="1" name=""/>
        <p:cNvGrpSpPr/>
        <p:nvPr/>
      </p:nvGrpSpPr>
      <p:grpSpPr>
        <a:xfrm>
          <a:off x="0" y="0"/>
          <a:ext cx="0" cy="0"/>
          <a:chOff x="0" y="0"/>
          <a:chExt cx="0" cy="0"/>
        </a:xfrm>
      </p:grpSpPr>
      <p:sp>
        <p:nvSpPr>
          <p:cNvPr id="2" name="Text 0"/>
          <p:cNvSpPr/>
          <p:nvPr/>
        </p:nvSpPr>
        <p:spPr>
          <a:xfrm>
            <a:off x="7955280" y="384048"/>
            <a:ext cx="3657600" cy="237744"/>
          </a:xfrm>
          <a:prstGeom prst="rect">
            <a:avLst/>
          </a:prstGeom>
          <a:noFill/>
          <a:ln/>
        </p:spPr>
        <p:txBody>
          <a:bodyPr wrap="square" lIns="0" tIns="0" rIns="0" bIns="0" rtlCol="0" anchor="ctr"/>
          <a:lstStyle/>
          <a:p>
            <a:pPr marL="0" indent="0" algn="r">
              <a:buNone/>
            </a:pPr>
            <a:r>
              <a:rPr lang="en-US" sz="1050" b="1" kern="0" spc="140">
                <a:solidFill>
                  <a:srgbClr val="6B7686"/>
                </a:solidFill>
                <a:latin typeface="Eurostile" pitchFamily="34" charset="0"/>
                <a:ea typeface="Eurostile" pitchFamily="34" charset="-122"/>
                <a:cs typeface="Eurostile" pitchFamily="34" charset="-120"/>
              </a:rPr>
              <a:t>BACKUP · NOT PRESENTED</a:t>
            </a:r>
            <a:endParaRPr lang="en-US" sz="1050"/>
          </a:p>
        </p:txBody>
      </p:sp>
      <p:sp>
        <p:nvSpPr>
          <p:cNvPr id="3" name="Text 1"/>
          <p:cNvSpPr/>
          <p:nvPr/>
        </p:nvSpPr>
        <p:spPr>
          <a:xfrm>
            <a:off x="566928" y="384048"/>
            <a:ext cx="8686800" cy="237744"/>
          </a:xfrm>
          <a:prstGeom prst="rect">
            <a:avLst/>
          </a:prstGeom>
          <a:noFill/>
          <a:ln/>
        </p:spPr>
        <p:txBody>
          <a:bodyPr wrap="square" lIns="0" tIns="0" rIns="0" bIns="0" rtlCol="0" anchor="ctr"/>
          <a:lstStyle/>
          <a:p>
            <a:pPr marL="0" indent="0">
              <a:buNone/>
            </a:pPr>
            <a:r>
              <a:rPr lang="en-US" sz="1150" b="1" kern="0" spc="160">
                <a:solidFill>
                  <a:srgbClr val="7186A6"/>
                </a:solidFill>
                <a:latin typeface="Eurostile" pitchFamily="34" charset="0"/>
                <a:ea typeface="Eurostile" pitchFamily="34" charset="-122"/>
                <a:cs typeface="Eurostile" pitchFamily="34" charset="-120"/>
              </a:rPr>
              <a:t>BACKUP 02 · WHY GRADIENT BOOSTING</a:t>
            </a:r>
            <a:endParaRPr lang="en-US" sz="1150"/>
          </a:p>
        </p:txBody>
      </p:sp>
      <p:sp>
        <p:nvSpPr>
          <p:cNvPr id="4" name="Text 2"/>
          <p:cNvSpPr/>
          <p:nvPr/>
        </p:nvSpPr>
        <p:spPr>
          <a:xfrm>
            <a:off x="566928" y="658368"/>
            <a:ext cx="10972800" cy="658368"/>
          </a:xfrm>
          <a:prstGeom prst="rect">
            <a:avLst/>
          </a:prstGeom>
          <a:noFill/>
          <a:ln/>
        </p:spPr>
        <p:txBody>
          <a:bodyPr wrap="square" lIns="0" tIns="0" rIns="0" bIns="0" rtlCol="0" anchor="ctr"/>
          <a:lstStyle/>
          <a:p>
            <a:pPr marL="0" indent="0">
              <a:buNone/>
            </a:pPr>
            <a:r>
              <a:rPr lang="en-US" sz="3000" b="1">
                <a:solidFill>
                  <a:srgbClr val="E7EAEF"/>
                </a:solidFill>
                <a:latin typeface="Eurostile" pitchFamily="34" charset="0"/>
                <a:ea typeface="Eurostile" pitchFamily="34" charset="-122"/>
                <a:cs typeface="Eurostile" pitchFamily="34" charset="-120"/>
              </a:rPr>
              <a:t>Model selection: validation MAE</a:t>
            </a:r>
            <a:endParaRPr lang="en-US" sz="3000"/>
          </a:p>
        </p:txBody>
      </p:sp>
      <p:pic>
        <p:nvPicPr>
          <p:cNvPr id="5" name="Image 0" descr="charts/model_comparison.png"/>
          <p:cNvPicPr>
            <a:picLocks noChangeAspect="1"/>
          </p:cNvPicPr>
          <p:nvPr/>
        </p:nvPicPr>
        <p:blipFill>
          <a:blip r:embed="rId3"/>
          <a:stretch>
            <a:fillRect/>
          </a:stretch>
        </p:blipFill>
        <p:spPr>
          <a:xfrm>
            <a:off x="2194560" y="1554480"/>
            <a:ext cx="7772400" cy="3291840"/>
          </a:xfrm>
          <a:prstGeom prst="rect">
            <a:avLst/>
          </a:prstGeom>
        </p:spPr>
      </p:pic>
      <p:sp>
        <p:nvSpPr>
          <p:cNvPr id="6" name="Text 3"/>
          <p:cNvSpPr/>
          <p:nvPr/>
        </p:nvSpPr>
        <p:spPr>
          <a:xfrm>
            <a:off x="566928" y="5074920"/>
            <a:ext cx="10881360" cy="1280160"/>
          </a:xfrm>
          <a:prstGeom prst="rect">
            <a:avLst/>
          </a:prstGeom>
          <a:noFill/>
          <a:ln/>
        </p:spPr>
        <p:txBody>
          <a:bodyPr wrap="square" lIns="0" tIns="0" rIns="0" bIns="0" rtlCol="0" anchor="ctr"/>
          <a:lstStyle/>
          <a:p>
            <a:pPr marL="177800" indent="-177800">
              <a:lnSpc>
                <a:spcPts val="2100"/>
              </a:lnSpc>
              <a:spcAft>
                <a:spcPts val="1100"/>
              </a:spcAft>
              <a:buSzPct val="100000"/>
              <a:buChar char="•"/>
            </a:pPr>
            <a:r>
              <a:rPr lang="en-US" sz="1400">
                <a:solidFill>
                  <a:srgbClr val="E7EAEF"/>
                </a:solidFill>
                <a:latin typeface="Eurostile"/>
                <a:ea typeface="Eurostile" pitchFamily="34" charset="-122"/>
                <a:cs typeface="Eurostile" pitchFamily="34" charset="-120"/>
              </a:rPr>
              <a:t>Selection was made on the 2020–2021 validation window only; the 2022–2023 test set was untouched until final evaluation</a:t>
            </a:r>
            <a:endParaRPr lang="en-US" sz="1400">
              <a:solidFill>
                <a:srgbClr val="000000"/>
              </a:solidFill>
              <a:latin typeface="Eurostile"/>
              <a:ea typeface="Calibri" panose="020F0502020204030204"/>
              <a:cs typeface="Calibri" panose="020F0502020204030204"/>
            </a:endParaRPr>
          </a:p>
          <a:p>
            <a:pPr marL="177800" indent="-177800">
              <a:lnSpc>
                <a:spcPts val="2100"/>
              </a:lnSpc>
              <a:spcAft>
                <a:spcPts val="1100"/>
              </a:spcAft>
              <a:buSzPct val="100000"/>
              <a:buChar char="•"/>
            </a:pPr>
            <a:r>
              <a:rPr lang="en-US" sz="1400">
                <a:solidFill>
                  <a:srgbClr val="E7EAEF"/>
                </a:solidFill>
                <a:latin typeface="Eurostile"/>
                <a:ea typeface="Calibri"/>
                <a:cs typeface="Calibri"/>
              </a:rPr>
              <a:t>Hyperparameter search: a time-series-aware randomized search scored WORSE (MAE 7.08) than the hand-picked configuration (6.35), so performance is not riding on a lucky parameter guess</a:t>
            </a:r>
            <a:endParaRPr lang="en-US" sz="1400">
              <a:solidFill>
                <a:srgbClr val="000000"/>
              </a:solidFill>
              <a:latin typeface="Eurostile"/>
              <a:ea typeface="+mn-lt"/>
              <a:cs typeface="+mn-lt"/>
            </a:endParaRPr>
          </a:p>
          <a:p>
            <a:pPr marL="177800" indent="-177800">
              <a:lnSpc>
                <a:spcPts val="2100"/>
              </a:lnSpc>
              <a:spcAft>
                <a:spcPts val="1100"/>
              </a:spcAft>
              <a:buSzPct val="100000"/>
              <a:buChar char="•"/>
            </a:pPr>
            <a:endParaRPr lang="en-US" sz="1300">
              <a:solidFill>
                <a:srgbClr val="E7EAEF"/>
              </a:solidFill>
              <a:latin typeface="Eurostil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11151B"/>
        </a:solidFill>
        <a:effectLst/>
      </p:bgPr>
    </p:bg>
    <p:spTree>
      <p:nvGrpSpPr>
        <p:cNvPr id="1" name=""/>
        <p:cNvGrpSpPr/>
        <p:nvPr/>
      </p:nvGrpSpPr>
      <p:grpSpPr>
        <a:xfrm>
          <a:off x="0" y="0"/>
          <a:ext cx="0" cy="0"/>
          <a:chOff x="0" y="0"/>
          <a:chExt cx="0" cy="0"/>
        </a:xfrm>
      </p:grpSpPr>
      <p:sp>
        <p:nvSpPr>
          <p:cNvPr id="2" name="Text 0"/>
          <p:cNvSpPr/>
          <p:nvPr/>
        </p:nvSpPr>
        <p:spPr>
          <a:xfrm>
            <a:off x="7955280" y="384048"/>
            <a:ext cx="3657600" cy="237744"/>
          </a:xfrm>
          <a:prstGeom prst="rect">
            <a:avLst/>
          </a:prstGeom>
          <a:noFill/>
          <a:ln/>
        </p:spPr>
        <p:txBody>
          <a:bodyPr wrap="square" lIns="0" tIns="0" rIns="0" bIns="0" rtlCol="0" anchor="ctr"/>
          <a:lstStyle/>
          <a:p>
            <a:pPr marL="0" indent="0" algn="r">
              <a:buNone/>
            </a:pPr>
            <a:r>
              <a:rPr lang="en-US" sz="1050" b="1" kern="0" spc="140">
                <a:solidFill>
                  <a:srgbClr val="6B7686"/>
                </a:solidFill>
                <a:latin typeface="Eurostile" pitchFamily="34" charset="0"/>
                <a:ea typeface="Eurostile" pitchFamily="34" charset="-122"/>
                <a:cs typeface="Eurostile" pitchFamily="34" charset="-120"/>
              </a:rPr>
              <a:t>BACKUP · NOT PRESENTED</a:t>
            </a:r>
            <a:endParaRPr lang="en-US" sz="1050"/>
          </a:p>
        </p:txBody>
      </p:sp>
      <p:sp>
        <p:nvSpPr>
          <p:cNvPr id="3" name="Text 1"/>
          <p:cNvSpPr/>
          <p:nvPr/>
        </p:nvSpPr>
        <p:spPr>
          <a:xfrm>
            <a:off x="566928" y="384048"/>
            <a:ext cx="8686800" cy="237744"/>
          </a:xfrm>
          <a:prstGeom prst="rect">
            <a:avLst/>
          </a:prstGeom>
          <a:noFill/>
          <a:ln/>
        </p:spPr>
        <p:txBody>
          <a:bodyPr wrap="square" lIns="0" tIns="0" rIns="0" bIns="0" rtlCol="0" anchor="ctr"/>
          <a:lstStyle/>
          <a:p>
            <a:pPr marL="0" indent="0">
              <a:buNone/>
            </a:pPr>
            <a:r>
              <a:rPr lang="en-US" sz="1150" b="1" kern="0" spc="160">
                <a:solidFill>
                  <a:srgbClr val="7186A6"/>
                </a:solidFill>
                <a:latin typeface="Eurostile" pitchFamily="34" charset="0"/>
                <a:ea typeface="Eurostile" pitchFamily="34" charset="-122"/>
                <a:cs typeface="Eurostile" pitchFamily="34" charset="-120"/>
              </a:rPr>
              <a:t>BACKUP 03 · THE R² QUESTION</a:t>
            </a:r>
            <a:endParaRPr lang="en-US" sz="1150"/>
          </a:p>
        </p:txBody>
      </p:sp>
      <p:sp>
        <p:nvSpPr>
          <p:cNvPr id="4" name="Text 2"/>
          <p:cNvSpPr/>
          <p:nvPr/>
        </p:nvSpPr>
        <p:spPr>
          <a:xfrm>
            <a:off x="566928" y="658368"/>
            <a:ext cx="10972800" cy="658368"/>
          </a:xfrm>
          <a:prstGeom prst="rect">
            <a:avLst/>
          </a:prstGeom>
          <a:noFill/>
          <a:ln/>
        </p:spPr>
        <p:txBody>
          <a:bodyPr wrap="square" lIns="0" tIns="0" rIns="0" bIns="0" rtlCol="0" anchor="ctr"/>
          <a:lstStyle/>
          <a:p>
            <a:pPr marL="0" indent="0">
              <a:buNone/>
            </a:pPr>
            <a:r>
              <a:rPr lang="en-US" sz="3000" b="1">
                <a:solidFill>
                  <a:srgbClr val="E7EAEF"/>
                </a:solidFill>
                <a:latin typeface="Eurostile" pitchFamily="34" charset="0"/>
                <a:ea typeface="Eurostile" pitchFamily="34" charset="-122"/>
                <a:cs typeface="Eurostile" pitchFamily="34" charset="-120"/>
              </a:rPr>
              <a:t>Outlier diagnostics: one shock drives the error</a:t>
            </a:r>
            <a:endParaRPr lang="en-US" sz="3000"/>
          </a:p>
        </p:txBody>
      </p:sp>
      <p:graphicFrame>
        <p:nvGraphicFramePr>
          <p:cNvPr id="13" name="Table 0"/>
          <p:cNvGraphicFramePr>
            <a:graphicFrameLocks noGrp="1"/>
          </p:cNvGraphicFramePr>
          <p:nvPr>
            <p:extLst>
              <p:ext uri="{D42A27DB-BD31-4B8C-83A1-F6EECF244321}">
                <p14:modId xmlns:p14="http://schemas.microsoft.com/office/powerpoint/2010/main" val="674940512"/>
              </p:ext>
            </p:extLst>
          </p:nvPr>
        </p:nvGraphicFramePr>
        <p:xfrm>
          <a:off x="566928" y="1691640"/>
          <a:ext cx="10881360" cy="1261872"/>
        </p:xfrm>
        <a:graphic>
          <a:graphicData uri="http://schemas.openxmlformats.org/drawingml/2006/table">
            <a:tbl>
              <a:tblPr/>
              <a:tblGrid>
                <a:gridCol w="56692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420624">
                <a:tc>
                  <a:txBody>
                    <a:bodyPr/>
                    <a:lstStyle/>
                    <a:p>
                      <a:pPr marL="0" indent="0">
                        <a:buNone/>
                      </a:pPr>
                      <a:endParaRPr lang="en-US" sz="1100">
                        <a:latin typeface="Eurostile" charset="0"/>
                        <a:ea typeface="Eurostile" charset="0"/>
                        <a:cs typeface="Eurostile" charset="0"/>
                      </a:endParaRPr>
                    </a:p>
                  </a:txBody>
                  <a:tcPr>
                    <a:lnL w="12700" cap="flat" cmpd="sng" algn="ctr">
                      <a:solidFill>
                        <a:srgbClr val="232A34"/>
                      </a:solidFill>
                      <a:prstDash val="solid"/>
                      <a:round/>
                      <a:headEnd type="none" w="med" len="med"/>
                      <a:tailEnd type="none" w="med" len="med"/>
                    </a:lnL>
                    <a:lnR w="12700" cap="flat" cmpd="sng" algn="ctr">
                      <a:solidFill>
                        <a:srgbClr val="232A34"/>
                      </a:solidFill>
                      <a:prstDash val="solid"/>
                      <a:round/>
                      <a:headEnd type="none" w="med" len="med"/>
                      <a:tailEnd type="none" w="med" len="med"/>
                    </a:lnR>
                    <a:lnT w="12700" cap="flat" cmpd="sng" algn="ctr">
                      <a:solidFill>
                        <a:srgbClr val="232A34"/>
                      </a:solidFill>
                      <a:prstDash val="solid"/>
                      <a:round/>
                      <a:headEnd type="none" w="med" len="med"/>
                      <a:tailEnd type="none" w="med" len="med"/>
                    </a:lnT>
                    <a:lnB w="12700" cap="flat" cmpd="sng" algn="ctr">
                      <a:solidFill>
                        <a:srgbClr val="232A34"/>
                      </a:solidFill>
                      <a:prstDash val="solid"/>
                      <a:round/>
                      <a:headEnd type="none" w="med" len="med"/>
                      <a:tailEnd type="none" w="med" len="med"/>
                    </a:lnB>
                    <a:solidFill>
                      <a:srgbClr val="171C25"/>
                    </a:solidFill>
                  </a:tcPr>
                </a:tc>
                <a:tc>
                  <a:txBody>
                    <a:bodyPr/>
                    <a:lstStyle/>
                    <a:p>
                      <a:pPr marL="0" indent="0" algn="r">
                        <a:buNone/>
                      </a:pPr>
                      <a:r>
                        <a:rPr lang="en-US" sz="1200" b="1">
                          <a:solidFill>
                            <a:srgbClr val="9AA5B5"/>
                          </a:solidFill>
                          <a:latin typeface="Eurostile" pitchFamily="34" charset="0"/>
                          <a:ea typeface="Eurostile" pitchFamily="34" charset="-122"/>
                          <a:cs typeface="Eurostile" pitchFamily="34" charset="-120"/>
                        </a:rPr>
                        <a:t>MAE</a:t>
                      </a:r>
                      <a:endParaRPr lang="en-US" sz="1200">
                        <a:latin typeface="Eurostile" charset="0"/>
                        <a:ea typeface="Eurostile" charset="0"/>
                        <a:cs typeface="Eurostile" charset="0"/>
                      </a:endParaRPr>
                    </a:p>
                  </a:txBody>
                  <a:tcPr>
                    <a:lnL w="12700" cap="flat" cmpd="sng" algn="ctr">
                      <a:solidFill>
                        <a:srgbClr val="232A34"/>
                      </a:solidFill>
                      <a:prstDash val="solid"/>
                      <a:round/>
                      <a:headEnd type="none" w="med" len="med"/>
                      <a:tailEnd type="none" w="med" len="med"/>
                    </a:lnL>
                    <a:lnR w="12700" cap="flat" cmpd="sng" algn="ctr">
                      <a:solidFill>
                        <a:srgbClr val="232A34"/>
                      </a:solidFill>
                      <a:prstDash val="solid"/>
                      <a:round/>
                      <a:headEnd type="none" w="med" len="med"/>
                      <a:tailEnd type="none" w="med" len="med"/>
                    </a:lnR>
                    <a:lnT w="12700" cap="flat" cmpd="sng" algn="ctr">
                      <a:solidFill>
                        <a:srgbClr val="232A34"/>
                      </a:solidFill>
                      <a:prstDash val="solid"/>
                      <a:round/>
                      <a:headEnd type="none" w="med" len="med"/>
                      <a:tailEnd type="none" w="med" len="med"/>
                    </a:lnT>
                    <a:lnB w="12700" cap="flat" cmpd="sng" algn="ctr">
                      <a:solidFill>
                        <a:srgbClr val="232A34"/>
                      </a:solidFill>
                      <a:prstDash val="solid"/>
                      <a:round/>
                      <a:headEnd type="none" w="med" len="med"/>
                      <a:tailEnd type="none" w="med" len="med"/>
                    </a:lnB>
                    <a:solidFill>
                      <a:srgbClr val="171C25"/>
                    </a:solidFill>
                  </a:tcPr>
                </a:tc>
                <a:tc>
                  <a:txBody>
                    <a:bodyPr/>
                    <a:lstStyle/>
                    <a:p>
                      <a:pPr marL="0" indent="0" algn="r">
                        <a:buNone/>
                      </a:pPr>
                      <a:r>
                        <a:rPr lang="en-US" sz="1200" b="1">
                          <a:solidFill>
                            <a:srgbClr val="9AA5B5"/>
                          </a:solidFill>
                          <a:latin typeface="Eurostile" pitchFamily="34" charset="0"/>
                          <a:ea typeface="Eurostile" pitchFamily="34" charset="-122"/>
                          <a:cs typeface="Eurostile" pitchFamily="34" charset="-120"/>
                        </a:rPr>
                        <a:t>RMSE</a:t>
                      </a:r>
                      <a:endParaRPr lang="en-US" sz="1200">
                        <a:latin typeface="Eurostile" charset="0"/>
                        <a:ea typeface="Eurostile" charset="0"/>
                        <a:cs typeface="Eurostile" charset="0"/>
                      </a:endParaRPr>
                    </a:p>
                  </a:txBody>
                  <a:tcPr>
                    <a:lnL w="12700" cap="flat" cmpd="sng" algn="ctr">
                      <a:solidFill>
                        <a:srgbClr val="232A34"/>
                      </a:solidFill>
                      <a:prstDash val="solid"/>
                      <a:round/>
                      <a:headEnd type="none" w="med" len="med"/>
                      <a:tailEnd type="none" w="med" len="med"/>
                    </a:lnL>
                    <a:lnR w="12700" cap="flat" cmpd="sng" algn="ctr">
                      <a:solidFill>
                        <a:srgbClr val="232A34"/>
                      </a:solidFill>
                      <a:prstDash val="solid"/>
                      <a:round/>
                      <a:headEnd type="none" w="med" len="med"/>
                      <a:tailEnd type="none" w="med" len="med"/>
                    </a:lnR>
                    <a:lnT w="12700" cap="flat" cmpd="sng" algn="ctr">
                      <a:solidFill>
                        <a:srgbClr val="232A34"/>
                      </a:solidFill>
                      <a:prstDash val="solid"/>
                      <a:round/>
                      <a:headEnd type="none" w="med" len="med"/>
                      <a:tailEnd type="none" w="med" len="med"/>
                    </a:lnT>
                    <a:lnB w="12700" cap="flat" cmpd="sng" algn="ctr">
                      <a:solidFill>
                        <a:srgbClr val="232A34"/>
                      </a:solidFill>
                      <a:prstDash val="solid"/>
                      <a:round/>
                      <a:headEnd type="none" w="med" len="med"/>
                      <a:tailEnd type="none" w="med" len="med"/>
                    </a:lnB>
                    <a:solidFill>
                      <a:srgbClr val="171C25"/>
                    </a:solidFill>
                  </a:tcPr>
                </a:tc>
                <a:tc>
                  <a:txBody>
                    <a:bodyPr/>
                    <a:lstStyle/>
                    <a:p>
                      <a:pPr marL="0" indent="0" algn="r">
                        <a:buNone/>
                      </a:pPr>
                      <a:r>
                        <a:rPr lang="en-US" sz="1200" b="1">
                          <a:solidFill>
                            <a:srgbClr val="9AA5B5"/>
                          </a:solidFill>
                          <a:latin typeface="Eurostile" pitchFamily="34" charset="0"/>
                          <a:ea typeface="Eurostile" pitchFamily="34" charset="-122"/>
                          <a:cs typeface="Eurostile" pitchFamily="34" charset="-120"/>
                        </a:rPr>
                        <a:t>R²</a:t>
                      </a:r>
                      <a:endParaRPr lang="en-US" sz="1200">
                        <a:latin typeface="Eurostile" charset="0"/>
                        <a:ea typeface="Eurostile" charset="0"/>
                        <a:cs typeface="Eurostile" charset="0"/>
                      </a:endParaRPr>
                    </a:p>
                  </a:txBody>
                  <a:tcPr>
                    <a:lnL w="12700" cap="flat" cmpd="sng" algn="ctr">
                      <a:solidFill>
                        <a:srgbClr val="232A34"/>
                      </a:solidFill>
                      <a:prstDash val="solid"/>
                      <a:round/>
                      <a:headEnd type="none" w="med" len="med"/>
                      <a:tailEnd type="none" w="med" len="med"/>
                    </a:lnL>
                    <a:lnR w="12700" cap="flat" cmpd="sng" algn="ctr">
                      <a:solidFill>
                        <a:srgbClr val="232A34"/>
                      </a:solidFill>
                      <a:prstDash val="solid"/>
                      <a:round/>
                      <a:headEnd type="none" w="med" len="med"/>
                      <a:tailEnd type="none" w="med" len="med"/>
                    </a:lnR>
                    <a:lnT w="12700" cap="flat" cmpd="sng" algn="ctr">
                      <a:solidFill>
                        <a:srgbClr val="232A34"/>
                      </a:solidFill>
                      <a:prstDash val="solid"/>
                      <a:round/>
                      <a:headEnd type="none" w="med" len="med"/>
                      <a:tailEnd type="none" w="med" len="med"/>
                    </a:lnT>
                    <a:lnB w="12700" cap="flat" cmpd="sng" algn="ctr">
                      <a:solidFill>
                        <a:srgbClr val="232A34"/>
                      </a:solidFill>
                      <a:prstDash val="solid"/>
                      <a:round/>
                      <a:headEnd type="none" w="med" len="med"/>
                      <a:tailEnd type="none" w="med" len="med"/>
                    </a:lnB>
                    <a:solidFill>
                      <a:srgbClr val="171C25"/>
                    </a:solidFill>
                  </a:tcPr>
                </a:tc>
                <a:extLst>
                  <a:ext uri="{0D108BD9-81ED-4DB2-BD59-A6C34878D82A}">
                    <a16:rowId xmlns:a16="http://schemas.microsoft.com/office/drawing/2014/main" val="10000"/>
                  </a:ext>
                </a:extLst>
              </a:tr>
              <a:tr h="420624">
                <a:tc>
                  <a:txBody>
                    <a:bodyPr/>
                    <a:lstStyle/>
                    <a:p>
                      <a:pPr marL="0" indent="0">
                        <a:buNone/>
                      </a:pPr>
                      <a:r>
                        <a:rPr lang="en-US" sz="1300">
                          <a:solidFill>
                            <a:srgbClr val="E7EAEF"/>
                          </a:solidFill>
                          <a:latin typeface="Eurostile" pitchFamily="34" charset="0"/>
                          <a:ea typeface="Eurostile" pitchFamily="34" charset="-122"/>
                          <a:cs typeface="Eurostile" pitchFamily="34" charset="-120"/>
                        </a:rPr>
                        <a:t>Test: all 100 observations</a:t>
                      </a:r>
                      <a:endParaRPr lang="en-US" sz="1300">
                        <a:latin typeface="Eurostile" charset="0"/>
                        <a:ea typeface="Eurostile" charset="0"/>
                        <a:cs typeface="Eurostile" charset="0"/>
                      </a:endParaRPr>
                    </a:p>
                  </a:txBody>
                  <a:tcPr>
                    <a:lnL w="12700" cap="flat" cmpd="sng" algn="ctr">
                      <a:solidFill>
                        <a:srgbClr val="232A34"/>
                      </a:solidFill>
                      <a:prstDash val="solid"/>
                      <a:round/>
                      <a:headEnd type="none" w="med" len="med"/>
                      <a:tailEnd type="none" w="med" len="med"/>
                    </a:lnL>
                    <a:lnR w="12700" cap="flat" cmpd="sng" algn="ctr">
                      <a:solidFill>
                        <a:srgbClr val="232A34"/>
                      </a:solidFill>
                      <a:prstDash val="solid"/>
                      <a:round/>
                      <a:headEnd type="none" w="med" len="med"/>
                      <a:tailEnd type="none" w="med" len="med"/>
                    </a:lnR>
                    <a:lnT w="12700" cap="flat" cmpd="sng" algn="ctr">
                      <a:solidFill>
                        <a:srgbClr val="232A34"/>
                      </a:solidFill>
                      <a:prstDash val="solid"/>
                      <a:round/>
                      <a:headEnd type="none" w="med" len="med"/>
                      <a:tailEnd type="none" w="med" len="med"/>
                    </a:lnT>
                    <a:lnB w="12700" cap="flat" cmpd="sng" algn="ctr">
                      <a:solidFill>
                        <a:srgbClr val="232A34"/>
                      </a:solidFill>
                      <a:prstDash val="solid"/>
                      <a:round/>
                      <a:headEnd type="none" w="med" len="med"/>
                      <a:tailEnd type="none" w="med" len="med"/>
                    </a:lnB>
                    <a:solidFill>
                      <a:srgbClr val="171C25"/>
                    </a:solidFill>
                  </a:tcPr>
                </a:tc>
                <a:tc>
                  <a:txBody>
                    <a:bodyPr/>
                    <a:lstStyle/>
                    <a:p>
                      <a:pPr marL="0" indent="0" algn="r">
                        <a:buNone/>
                      </a:pPr>
                      <a:r>
                        <a:rPr lang="en-US" sz="1300">
                          <a:solidFill>
                            <a:srgbClr val="E7EAEF"/>
                          </a:solidFill>
                          <a:latin typeface="Eurostile" pitchFamily="34" charset="0"/>
                          <a:ea typeface="Eurostile" pitchFamily="34" charset="-122"/>
                          <a:cs typeface="Eurostile" pitchFamily="34" charset="-120"/>
                        </a:rPr>
                        <a:t>6.75</a:t>
                      </a:r>
                      <a:endParaRPr lang="en-US" sz="1300">
                        <a:latin typeface="Eurostile" charset="0"/>
                        <a:ea typeface="Eurostile" charset="0"/>
                        <a:cs typeface="Eurostile" charset="0"/>
                      </a:endParaRPr>
                    </a:p>
                  </a:txBody>
                  <a:tcPr>
                    <a:lnL w="12700" cap="flat" cmpd="sng" algn="ctr">
                      <a:solidFill>
                        <a:srgbClr val="232A34"/>
                      </a:solidFill>
                      <a:prstDash val="solid"/>
                      <a:round/>
                      <a:headEnd type="none" w="med" len="med"/>
                      <a:tailEnd type="none" w="med" len="med"/>
                    </a:lnL>
                    <a:lnR w="12700" cap="flat" cmpd="sng" algn="ctr">
                      <a:solidFill>
                        <a:srgbClr val="232A34"/>
                      </a:solidFill>
                      <a:prstDash val="solid"/>
                      <a:round/>
                      <a:headEnd type="none" w="med" len="med"/>
                      <a:tailEnd type="none" w="med" len="med"/>
                    </a:lnR>
                    <a:lnT w="12700" cap="flat" cmpd="sng" algn="ctr">
                      <a:solidFill>
                        <a:srgbClr val="232A34"/>
                      </a:solidFill>
                      <a:prstDash val="solid"/>
                      <a:round/>
                      <a:headEnd type="none" w="med" len="med"/>
                      <a:tailEnd type="none" w="med" len="med"/>
                    </a:lnT>
                    <a:lnB w="12700" cap="flat" cmpd="sng" algn="ctr">
                      <a:solidFill>
                        <a:srgbClr val="232A34"/>
                      </a:solidFill>
                      <a:prstDash val="solid"/>
                      <a:round/>
                      <a:headEnd type="none" w="med" len="med"/>
                      <a:tailEnd type="none" w="med" len="med"/>
                    </a:lnB>
                    <a:solidFill>
                      <a:srgbClr val="171C25"/>
                    </a:solidFill>
                  </a:tcPr>
                </a:tc>
                <a:tc>
                  <a:txBody>
                    <a:bodyPr/>
                    <a:lstStyle/>
                    <a:p>
                      <a:pPr marL="0" indent="0" algn="r">
                        <a:buNone/>
                      </a:pPr>
                      <a:r>
                        <a:rPr lang="en-US" sz="1300">
                          <a:solidFill>
                            <a:srgbClr val="E7EAEF"/>
                          </a:solidFill>
                          <a:latin typeface="Eurostile" pitchFamily="34" charset="0"/>
                          <a:ea typeface="Eurostile" pitchFamily="34" charset="-122"/>
                          <a:cs typeface="Eurostile" pitchFamily="34" charset="-120"/>
                        </a:rPr>
                        <a:t>20.90</a:t>
                      </a:r>
                      <a:endParaRPr lang="en-US" sz="1300">
                        <a:latin typeface="Eurostile" charset="0"/>
                        <a:ea typeface="Eurostile" charset="0"/>
                        <a:cs typeface="Eurostile" charset="0"/>
                      </a:endParaRPr>
                    </a:p>
                  </a:txBody>
                  <a:tcPr>
                    <a:lnL w="12700" cap="flat" cmpd="sng" algn="ctr">
                      <a:solidFill>
                        <a:srgbClr val="232A34"/>
                      </a:solidFill>
                      <a:prstDash val="solid"/>
                      <a:round/>
                      <a:headEnd type="none" w="med" len="med"/>
                      <a:tailEnd type="none" w="med" len="med"/>
                    </a:lnL>
                    <a:lnR w="12700" cap="flat" cmpd="sng" algn="ctr">
                      <a:solidFill>
                        <a:srgbClr val="232A34"/>
                      </a:solidFill>
                      <a:prstDash val="solid"/>
                      <a:round/>
                      <a:headEnd type="none" w="med" len="med"/>
                      <a:tailEnd type="none" w="med" len="med"/>
                    </a:lnR>
                    <a:lnT w="12700" cap="flat" cmpd="sng" algn="ctr">
                      <a:solidFill>
                        <a:srgbClr val="232A34"/>
                      </a:solidFill>
                      <a:prstDash val="solid"/>
                      <a:round/>
                      <a:headEnd type="none" w="med" len="med"/>
                      <a:tailEnd type="none" w="med" len="med"/>
                    </a:lnT>
                    <a:lnB w="12700" cap="flat" cmpd="sng" algn="ctr">
                      <a:solidFill>
                        <a:srgbClr val="232A34"/>
                      </a:solidFill>
                      <a:prstDash val="solid"/>
                      <a:round/>
                      <a:headEnd type="none" w="med" len="med"/>
                      <a:tailEnd type="none" w="med" len="med"/>
                    </a:lnB>
                    <a:solidFill>
                      <a:srgbClr val="171C25"/>
                    </a:solidFill>
                  </a:tcPr>
                </a:tc>
                <a:tc>
                  <a:txBody>
                    <a:bodyPr/>
                    <a:lstStyle/>
                    <a:p>
                      <a:pPr marL="0" indent="0" algn="r">
                        <a:buNone/>
                      </a:pPr>
                      <a:r>
                        <a:rPr lang="en-US" sz="1300">
                          <a:solidFill>
                            <a:srgbClr val="E7EAEF"/>
                          </a:solidFill>
                          <a:latin typeface="Eurostile" pitchFamily="34" charset="0"/>
                          <a:ea typeface="Eurostile" pitchFamily="34" charset="-122"/>
                          <a:cs typeface="Eurostile" pitchFamily="34" charset="-120"/>
                        </a:rPr>
                        <a:t>0.127</a:t>
                      </a:r>
                      <a:endParaRPr lang="en-US" sz="1300">
                        <a:latin typeface="Eurostile" charset="0"/>
                        <a:ea typeface="Eurostile" charset="0"/>
                        <a:cs typeface="Eurostile" charset="0"/>
                      </a:endParaRPr>
                    </a:p>
                  </a:txBody>
                  <a:tcPr>
                    <a:lnL w="12700" cap="flat" cmpd="sng" algn="ctr">
                      <a:solidFill>
                        <a:srgbClr val="232A34"/>
                      </a:solidFill>
                      <a:prstDash val="solid"/>
                      <a:round/>
                      <a:headEnd type="none" w="med" len="med"/>
                      <a:tailEnd type="none" w="med" len="med"/>
                    </a:lnL>
                    <a:lnR w="12700" cap="flat" cmpd="sng" algn="ctr">
                      <a:solidFill>
                        <a:srgbClr val="232A34"/>
                      </a:solidFill>
                      <a:prstDash val="solid"/>
                      <a:round/>
                      <a:headEnd type="none" w="med" len="med"/>
                      <a:tailEnd type="none" w="med" len="med"/>
                    </a:lnR>
                    <a:lnT w="12700" cap="flat" cmpd="sng" algn="ctr">
                      <a:solidFill>
                        <a:srgbClr val="232A34"/>
                      </a:solidFill>
                      <a:prstDash val="solid"/>
                      <a:round/>
                      <a:headEnd type="none" w="med" len="med"/>
                      <a:tailEnd type="none" w="med" len="med"/>
                    </a:lnT>
                    <a:lnB w="12700" cap="flat" cmpd="sng" algn="ctr">
                      <a:solidFill>
                        <a:srgbClr val="232A34"/>
                      </a:solidFill>
                      <a:prstDash val="solid"/>
                      <a:round/>
                      <a:headEnd type="none" w="med" len="med"/>
                      <a:tailEnd type="none" w="med" len="med"/>
                    </a:lnB>
                    <a:solidFill>
                      <a:srgbClr val="171C25"/>
                    </a:solidFill>
                  </a:tcPr>
                </a:tc>
                <a:extLst>
                  <a:ext uri="{0D108BD9-81ED-4DB2-BD59-A6C34878D82A}">
                    <a16:rowId xmlns:a16="http://schemas.microsoft.com/office/drawing/2014/main" val="10001"/>
                  </a:ext>
                </a:extLst>
              </a:tr>
              <a:tr h="420624">
                <a:tc>
                  <a:txBody>
                    <a:bodyPr/>
                    <a:lstStyle/>
                    <a:p>
                      <a:pPr marL="0" indent="0">
                        <a:buNone/>
                      </a:pPr>
                      <a:r>
                        <a:rPr lang="en-US" sz="1300">
                          <a:solidFill>
                            <a:srgbClr val="46C2B4"/>
                          </a:solidFill>
                          <a:latin typeface="Eurostile" pitchFamily="34" charset="0"/>
                          <a:ea typeface="Eurostile" pitchFamily="34" charset="-122"/>
                          <a:cs typeface="Eurostile" pitchFamily="34" charset="-120"/>
                        </a:rPr>
                        <a:t>Test: excluding the flagged outlier</a:t>
                      </a:r>
                      <a:endParaRPr lang="en-US" sz="1300">
                        <a:latin typeface="Eurostile" charset="0"/>
                        <a:ea typeface="Eurostile" charset="0"/>
                        <a:cs typeface="Eurostile" charset="0"/>
                      </a:endParaRPr>
                    </a:p>
                  </a:txBody>
                  <a:tcPr>
                    <a:lnL w="12700" cap="flat" cmpd="sng" algn="ctr">
                      <a:solidFill>
                        <a:srgbClr val="232A34"/>
                      </a:solidFill>
                      <a:prstDash val="solid"/>
                      <a:round/>
                      <a:headEnd type="none" w="med" len="med"/>
                      <a:tailEnd type="none" w="med" len="med"/>
                    </a:lnL>
                    <a:lnR w="12700" cap="flat" cmpd="sng" algn="ctr">
                      <a:solidFill>
                        <a:srgbClr val="232A34"/>
                      </a:solidFill>
                      <a:prstDash val="solid"/>
                      <a:round/>
                      <a:headEnd type="none" w="med" len="med"/>
                      <a:tailEnd type="none" w="med" len="med"/>
                    </a:lnR>
                    <a:lnT w="12700" cap="flat" cmpd="sng" algn="ctr">
                      <a:solidFill>
                        <a:srgbClr val="232A34"/>
                      </a:solidFill>
                      <a:prstDash val="solid"/>
                      <a:round/>
                      <a:headEnd type="none" w="med" len="med"/>
                      <a:tailEnd type="none" w="med" len="med"/>
                    </a:lnT>
                    <a:lnB w="12700" cap="flat" cmpd="sng" algn="ctr">
                      <a:solidFill>
                        <a:srgbClr val="232A34"/>
                      </a:solidFill>
                      <a:prstDash val="solid"/>
                      <a:round/>
                      <a:headEnd type="none" w="med" len="med"/>
                      <a:tailEnd type="none" w="med" len="med"/>
                    </a:lnB>
                    <a:solidFill>
                      <a:srgbClr val="171C25"/>
                    </a:solidFill>
                  </a:tcPr>
                </a:tc>
                <a:tc>
                  <a:txBody>
                    <a:bodyPr/>
                    <a:lstStyle/>
                    <a:p>
                      <a:pPr marL="0" indent="0" algn="r">
                        <a:buNone/>
                      </a:pPr>
                      <a:r>
                        <a:rPr lang="en-US" sz="1300" b="1">
                          <a:solidFill>
                            <a:srgbClr val="46C2B4"/>
                          </a:solidFill>
                          <a:latin typeface="Eurostile" pitchFamily="34" charset="0"/>
                          <a:ea typeface="Eurostile" pitchFamily="34" charset="-122"/>
                          <a:cs typeface="Eurostile" pitchFamily="34" charset="-120"/>
                        </a:rPr>
                        <a:t>4.80</a:t>
                      </a:r>
                      <a:endParaRPr lang="en-US" sz="1300">
                        <a:latin typeface="Eurostile" charset="0"/>
                        <a:ea typeface="Eurostile" charset="0"/>
                        <a:cs typeface="Eurostile" charset="0"/>
                      </a:endParaRPr>
                    </a:p>
                  </a:txBody>
                  <a:tcPr>
                    <a:lnL w="12700" cap="flat" cmpd="sng" algn="ctr">
                      <a:solidFill>
                        <a:srgbClr val="232A34"/>
                      </a:solidFill>
                      <a:prstDash val="solid"/>
                      <a:round/>
                      <a:headEnd type="none" w="med" len="med"/>
                      <a:tailEnd type="none" w="med" len="med"/>
                    </a:lnL>
                    <a:lnR w="12700" cap="flat" cmpd="sng" algn="ctr">
                      <a:solidFill>
                        <a:srgbClr val="232A34"/>
                      </a:solidFill>
                      <a:prstDash val="solid"/>
                      <a:round/>
                      <a:headEnd type="none" w="med" len="med"/>
                      <a:tailEnd type="none" w="med" len="med"/>
                    </a:lnR>
                    <a:lnT w="12700" cap="flat" cmpd="sng" algn="ctr">
                      <a:solidFill>
                        <a:srgbClr val="232A34"/>
                      </a:solidFill>
                      <a:prstDash val="solid"/>
                      <a:round/>
                      <a:headEnd type="none" w="med" len="med"/>
                      <a:tailEnd type="none" w="med" len="med"/>
                    </a:lnT>
                    <a:lnB w="12700" cap="flat" cmpd="sng" algn="ctr">
                      <a:solidFill>
                        <a:srgbClr val="232A34"/>
                      </a:solidFill>
                      <a:prstDash val="solid"/>
                      <a:round/>
                      <a:headEnd type="none" w="med" len="med"/>
                      <a:tailEnd type="none" w="med" len="med"/>
                    </a:lnB>
                    <a:solidFill>
                      <a:srgbClr val="171C25"/>
                    </a:solidFill>
                  </a:tcPr>
                </a:tc>
                <a:tc>
                  <a:txBody>
                    <a:bodyPr/>
                    <a:lstStyle/>
                    <a:p>
                      <a:pPr marL="0" indent="0" algn="r">
                        <a:buNone/>
                      </a:pPr>
                      <a:r>
                        <a:rPr lang="en-US" sz="1300" b="1">
                          <a:solidFill>
                            <a:srgbClr val="46C2B4"/>
                          </a:solidFill>
                          <a:latin typeface="Eurostile" pitchFamily="34" charset="0"/>
                          <a:ea typeface="Eurostile" pitchFamily="34" charset="-122"/>
                          <a:cs typeface="Eurostile" pitchFamily="34" charset="-120"/>
                        </a:rPr>
                        <a:t>6.05</a:t>
                      </a:r>
                      <a:endParaRPr lang="en-US" sz="1300">
                        <a:latin typeface="Eurostile" charset="0"/>
                        <a:ea typeface="Eurostile" charset="0"/>
                        <a:cs typeface="Eurostile" charset="0"/>
                      </a:endParaRPr>
                    </a:p>
                  </a:txBody>
                  <a:tcPr>
                    <a:lnL w="12700" cap="flat" cmpd="sng" algn="ctr">
                      <a:solidFill>
                        <a:srgbClr val="232A34"/>
                      </a:solidFill>
                      <a:prstDash val="solid"/>
                      <a:round/>
                      <a:headEnd type="none" w="med" len="med"/>
                      <a:tailEnd type="none" w="med" len="med"/>
                    </a:lnL>
                    <a:lnR w="12700" cap="flat" cmpd="sng" algn="ctr">
                      <a:solidFill>
                        <a:srgbClr val="232A34"/>
                      </a:solidFill>
                      <a:prstDash val="solid"/>
                      <a:round/>
                      <a:headEnd type="none" w="med" len="med"/>
                      <a:tailEnd type="none" w="med" len="med"/>
                    </a:lnR>
                    <a:lnT w="12700" cap="flat" cmpd="sng" algn="ctr">
                      <a:solidFill>
                        <a:srgbClr val="232A34"/>
                      </a:solidFill>
                      <a:prstDash val="solid"/>
                      <a:round/>
                      <a:headEnd type="none" w="med" len="med"/>
                      <a:tailEnd type="none" w="med" len="med"/>
                    </a:lnT>
                    <a:lnB w="12700" cap="flat" cmpd="sng" algn="ctr">
                      <a:solidFill>
                        <a:srgbClr val="232A34"/>
                      </a:solidFill>
                      <a:prstDash val="solid"/>
                      <a:round/>
                      <a:headEnd type="none" w="med" len="med"/>
                      <a:tailEnd type="none" w="med" len="med"/>
                    </a:lnB>
                    <a:solidFill>
                      <a:srgbClr val="171C25"/>
                    </a:solidFill>
                  </a:tcPr>
                </a:tc>
                <a:tc>
                  <a:txBody>
                    <a:bodyPr/>
                    <a:lstStyle/>
                    <a:p>
                      <a:pPr marL="0" lvl="0" indent="0" algn="r">
                        <a:buNone/>
                      </a:pPr>
                      <a:r>
                        <a:rPr lang="en-US" sz="1300">
                          <a:solidFill>
                            <a:srgbClr val="9AA5B5"/>
                          </a:solidFill>
                          <a:latin typeface="Eurostile"/>
                        </a:rPr>
                        <a:t>-0.060</a:t>
                      </a:r>
                      <a:endParaRPr lang="en-US"/>
                    </a:p>
                  </a:txBody>
                  <a:tcPr>
                    <a:lnL w="12700" cap="flat" cmpd="sng" algn="ctr">
                      <a:solidFill>
                        <a:srgbClr val="232A34"/>
                      </a:solidFill>
                      <a:prstDash val="solid"/>
                      <a:round/>
                      <a:headEnd type="none" w="med" len="med"/>
                      <a:tailEnd type="none" w="med" len="med"/>
                    </a:lnL>
                    <a:lnR w="12700" cap="flat" cmpd="sng" algn="ctr">
                      <a:solidFill>
                        <a:srgbClr val="232A34"/>
                      </a:solidFill>
                      <a:prstDash val="solid"/>
                      <a:round/>
                      <a:headEnd type="none" w="med" len="med"/>
                      <a:tailEnd type="none" w="med" len="med"/>
                    </a:lnR>
                    <a:lnT w="12700" cap="flat" cmpd="sng" algn="ctr">
                      <a:solidFill>
                        <a:srgbClr val="232A34"/>
                      </a:solidFill>
                      <a:prstDash val="solid"/>
                      <a:round/>
                      <a:headEnd type="none" w="med" len="med"/>
                      <a:tailEnd type="none" w="med" len="med"/>
                    </a:lnT>
                    <a:lnB w="12700" cap="flat" cmpd="sng" algn="ctr">
                      <a:solidFill>
                        <a:srgbClr val="232A34"/>
                      </a:solidFill>
                      <a:prstDash val="solid"/>
                      <a:round/>
                      <a:headEnd type="none" w="med" len="med"/>
                      <a:tailEnd type="none" w="med" len="med"/>
                    </a:lnB>
                    <a:solidFill>
                      <a:srgbClr val="171C25"/>
                    </a:solidFill>
                  </a:tcPr>
                </a:tc>
                <a:extLst>
                  <a:ext uri="{0D108BD9-81ED-4DB2-BD59-A6C34878D82A}">
                    <a16:rowId xmlns:a16="http://schemas.microsoft.com/office/drawing/2014/main" val="10002"/>
                  </a:ext>
                </a:extLst>
              </a:tr>
            </a:tbl>
          </a:graphicData>
        </a:graphic>
      </p:graphicFrame>
      <p:sp>
        <p:nvSpPr>
          <p:cNvPr id="7" name="Shape 3"/>
          <p:cNvSpPr/>
          <p:nvPr/>
        </p:nvSpPr>
        <p:spPr>
          <a:xfrm>
            <a:off x="566928" y="3429000"/>
            <a:ext cx="3383280" cy="1188720"/>
          </a:xfrm>
          <a:prstGeom prst="roundRect">
            <a:avLst>
              <a:gd name="adj" fmla="val 5385"/>
            </a:avLst>
          </a:prstGeom>
          <a:solidFill>
            <a:srgbClr val="171C25"/>
          </a:solidFill>
          <a:ln w="12700">
            <a:solidFill>
              <a:srgbClr val="232A34"/>
            </a:solidFill>
            <a:prstDash val="solid"/>
          </a:ln>
        </p:spPr>
        <p:txBody>
          <a:bodyPr/>
          <a:lstStyle/>
          <a:p>
            <a:endParaRPr lang="en-US"/>
          </a:p>
        </p:txBody>
      </p:sp>
      <p:sp>
        <p:nvSpPr>
          <p:cNvPr id="8" name="Text 4"/>
          <p:cNvSpPr/>
          <p:nvPr/>
        </p:nvSpPr>
        <p:spPr>
          <a:xfrm>
            <a:off x="731520" y="3575304"/>
            <a:ext cx="3054096" cy="566928"/>
          </a:xfrm>
          <a:prstGeom prst="rect">
            <a:avLst/>
          </a:prstGeom>
          <a:noFill/>
          <a:ln/>
        </p:spPr>
        <p:txBody>
          <a:bodyPr wrap="square" lIns="0" tIns="0" rIns="0" bIns="0" rtlCol="0" anchor="ctr"/>
          <a:lstStyle/>
          <a:p>
            <a:pPr marL="0" indent="0" algn="l">
              <a:buNone/>
            </a:pPr>
            <a:r>
              <a:rPr lang="en-US" sz="2600" b="1">
                <a:solidFill>
                  <a:srgbClr val="D1614B"/>
                </a:solidFill>
                <a:latin typeface="Eurostile" pitchFamily="34" charset="0"/>
                <a:ea typeface="Eurostile" pitchFamily="34" charset="-122"/>
                <a:cs typeface="Eurostile" pitchFamily="34" charset="-120"/>
              </a:rPr>
              <a:t>9.5σ</a:t>
            </a:r>
            <a:endParaRPr lang="en-US" sz="2600"/>
          </a:p>
        </p:txBody>
      </p:sp>
      <p:sp>
        <p:nvSpPr>
          <p:cNvPr id="9" name="Text 5"/>
          <p:cNvSpPr/>
          <p:nvPr/>
        </p:nvSpPr>
        <p:spPr>
          <a:xfrm>
            <a:off x="731520" y="4142232"/>
            <a:ext cx="3054096" cy="457200"/>
          </a:xfrm>
          <a:prstGeom prst="rect">
            <a:avLst/>
          </a:prstGeom>
          <a:noFill/>
          <a:ln/>
        </p:spPr>
        <p:txBody>
          <a:bodyPr wrap="square" lIns="0" tIns="0" rIns="0" bIns="0" rtlCol="0" anchor="ctr"/>
          <a:lstStyle/>
          <a:p>
            <a:pPr marL="0" indent="0" algn="l">
              <a:buNone/>
            </a:pPr>
            <a:r>
              <a:rPr lang="en-US" sz="1150">
                <a:solidFill>
                  <a:srgbClr val="9AA5B5"/>
                </a:solidFill>
                <a:latin typeface="Eurostile" pitchFamily="34" charset="0"/>
                <a:ea typeface="Eurostile" pitchFamily="34" charset="-122"/>
                <a:cs typeface="Eurostile" pitchFamily="34" charset="-120"/>
              </a:rPr>
              <a:t>Standardized residual, Russia → EU 2022</a:t>
            </a:r>
            <a:endParaRPr lang="en-US" sz="1150"/>
          </a:p>
        </p:txBody>
      </p:sp>
      <p:sp>
        <p:nvSpPr>
          <p:cNvPr id="10" name="Shape 6"/>
          <p:cNvSpPr/>
          <p:nvPr/>
        </p:nvSpPr>
        <p:spPr>
          <a:xfrm>
            <a:off x="4151376" y="3429000"/>
            <a:ext cx="3383280" cy="1188720"/>
          </a:xfrm>
          <a:prstGeom prst="roundRect">
            <a:avLst>
              <a:gd name="adj" fmla="val 5385"/>
            </a:avLst>
          </a:prstGeom>
          <a:solidFill>
            <a:srgbClr val="171C25"/>
          </a:solidFill>
          <a:ln w="12700">
            <a:solidFill>
              <a:srgbClr val="232A34"/>
            </a:solidFill>
            <a:prstDash val="solid"/>
          </a:ln>
        </p:spPr>
        <p:txBody>
          <a:bodyPr/>
          <a:lstStyle/>
          <a:p>
            <a:endParaRPr lang="en-US"/>
          </a:p>
        </p:txBody>
      </p:sp>
      <p:sp>
        <p:nvSpPr>
          <p:cNvPr id="11" name="Text 7"/>
          <p:cNvSpPr/>
          <p:nvPr/>
        </p:nvSpPr>
        <p:spPr>
          <a:xfrm>
            <a:off x="4315968" y="3575304"/>
            <a:ext cx="3054096" cy="566928"/>
          </a:xfrm>
          <a:prstGeom prst="rect">
            <a:avLst/>
          </a:prstGeom>
          <a:noFill/>
          <a:ln/>
        </p:spPr>
        <p:txBody>
          <a:bodyPr wrap="square" lIns="0" tIns="0" rIns="0" bIns="0" rtlCol="0" anchor="ctr"/>
          <a:lstStyle/>
          <a:p>
            <a:pPr marL="0" indent="0" algn="l">
              <a:buNone/>
            </a:pPr>
            <a:r>
              <a:rPr lang="en-US" sz="2600" b="1">
                <a:solidFill>
                  <a:srgbClr val="E0973F"/>
                </a:solidFill>
                <a:latin typeface="Eurostile" pitchFamily="34" charset="0"/>
                <a:ea typeface="Eurostile" pitchFamily="34" charset="-122"/>
                <a:cs typeface="Eurostile" pitchFamily="34" charset="-120"/>
              </a:rPr>
              <a:t>1 of 100</a:t>
            </a:r>
            <a:endParaRPr lang="en-US" sz="2600"/>
          </a:p>
        </p:txBody>
      </p:sp>
      <p:sp>
        <p:nvSpPr>
          <p:cNvPr id="12" name="Text 8"/>
          <p:cNvSpPr/>
          <p:nvPr/>
        </p:nvSpPr>
        <p:spPr>
          <a:xfrm>
            <a:off x="4315968" y="4142232"/>
            <a:ext cx="3054096" cy="457200"/>
          </a:xfrm>
          <a:prstGeom prst="rect">
            <a:avLst/>
          </a:prstGeom>
          <a:noFill/>
          <a:ln/>
        </p:spPr>
        <p:txBody>
          <a:bodyPr wrap="square" lIns="0" tIns="0" rIns="0" bIns="0" rtlCol="0" anchor="ctr"/>
          <a:lstStyle/>
          <a:p>
            <a:pPr marL="0" indent="0" algn="l">
              <a:buNone/>
            </a:pPr>
            <a:r>
              <a:rPr lang="en-US" sz="1150">
                <a:solidFill>
                  <a:srgbClr val="9AA5B5"/>
                </a:solidFill>
                <a:latin typeface="Eurostile" pitchFamily="34" charset="0"/>
                <a:ea typeface="Eurostile" pitchFamily="34" charset="-122"/>
                <a:cs typeface="Eurostile" pitchFamily="34" charset="-120"/>
              </a:rPr>
              <a:t>Test observations flagged as outliers</a:t>
            </a:r>
            <a:endParaRPr lang="en-US" sz="1150"/>
          </a:p>
        </p:txBody>
      </p:sp>
      <p:sp>
        <p:nvSpPr>
          <p:cNvPr id="5" name="Shape 9"/>
          <p:cNvSpPr/>
          <p:nvPr/>
        </p:nvSpPr>
        <p:spPr>
          <a:xfrm>
            <a:off x="7735824" y="3429000"/>
            <a:ext cx="3383280" cy="1188720"/>
          </a:xfrm>
          <a:prstGeom prst="roundRect">
            <a:avLst>
              <a:gd name="adj" fmla="val 5385"/>
            </a:avLst>
          </a:prstGeom>
          <a:solidFill>
            <a:srgbClr val="171C25"/>
          </a:solidFill>
          <a:ln w="12700">
            <a:solidFill>
              <a:srgbClr val="232A34"/>
            </a:solidFill>
            <a:prstDash val="solid"/>
          </a:ln>
        </p:spPr>
        <p:txBody>
          <a:bodyPr/>
          <a:lstStyle/>
          <a:p>
            <a:endParaRPr lang="en-US"/>
          </a:p>
        </p:txBody>
      </p:sp>
      <p:sp>
        <p:nvSpPr>
          <p:cNvPr id="14" name="Text 10"/>
          <p:cNvSpPr/>
          <p:nvPr/>
        </p:nvSpPr>
        <p:spPr>
          <a:xfrm>
            <a:off x="7900416" y="3575304"/>
            <a:ext cx="3054096" cy="566928"/>
          </a:xfrm>
          <a:prstGeom prst="rect">
            <a:avLst/>
          </a:prstGeom>
          <a:noFill/>
          <a:ln/>
        </p:spPr>
        <p:txBody>
          <a:bodyPr wrap="square" lIns="0" tIns="0" rIns="0" bIns="0" rtlCol="0" anchor="ctr"/>
          <a:lstStyle/>
          <a:p>
            <a:pPr marL="0" indent="0" algn="l">
              <a:buNone/>
            </a:pPr>
            <a:r>
              <a:rPr lang="en-US" sz="2600" b="1">
                <a:solidFill>
                  <a:srgbClr val="D1614B"/>
                </a:solidFill>
                <a:latin typeface="Eurostile" pitchFamily="34" charset="0"/>
                <a:ea typeface="Eurostile" pitchFamily="34" charset="-122"/>
                <a:cs typeface="Eurostile" pitchFamily="34" charset="-120"/>
              </a:rPr>
              <a:t>+217%</a:t>
            </a:r>
            <a:endParaRPr lang="en-US" sz="2600"/>
          </a:p>
        </p:txBody>
      </p:sp>
      <p:sp>
        <p:nvSpPr>
          <p:cNvPr id="15" name="Text 11"/>
          <p:cNvSpPr/>
          <p:nvPr/>
        </p:nvSpPr>
        <p:spPr>
          <a:xfrm>
            <a:off x="7900416" y="4142232"/>
            <a:ext cx="3054096" cy="457200"/>
          </a:xfrm>
          <a:prstGeom prst="rect">
            <a:avLst/>
          </a:prstGeom>
          <a:noFill/>
          <a:ln/>
        </p:spPr>
        <p:txBody>
          <a:bodyPr wrap="square" lIns="0" tIns="0" rIns="0" bIns="0" rtlCol="0" anchor="ctr"/>
          <a:lstStyle/>
          <a:p>
            <a:pPr marL="0" indent="0" algn="l">
              <a:buNone/>
            </a:pPr>
            <a:r>
              <a:rPr lang="en-US" sz="1150">
                <a:solidFill>
                  <a:srgbClr val="9AA5B5"/>
                </a:solidFill>
                <a:latin typeface="Eurostile" pitchFamily="34" charset="0"/>
                <a:ea typeface="Eurostile" pitchFamily="34" charset="-122"/>
                <a:cs typeface="Eurostile" pitchFamily="34" charset="-120"/>
              </a:rPr>
              <a:t>Actual growth vs. +16.4% predicted</a:t>
            </a:r>
            <a:endParaRPr lang="en-US" sz="1150"/>
          </a:p>
        </p:txBody>
      </p:sp>
      <p:sp>
        <p:nvSpPr>
          <p:cNvPr id="16" name="Text 12"/>
          <p:cNvSpPr/>
          <p:nvPr/>
        </p:nvSpPr>
        <p:spPr>
          <a:xfrm>
            <a:off x="566928" y="4892040"/>
            <a:ext cx="10881360" cy="731520"/>
          </a:xfrm>
          <a:prstGeom prst="rect">
            <a:avLst/>
          </a:prstGeom>
          <a:noFill/>
          <a:ln/>
        </p:spPr>
        <p:txBody>
          <a:bodyPr wrap="square" lIns="0" tIns="0" rIns="0" bIns="0" rtlCol="0" anchor="ctr"/>
          <a:lstStyle/>
          <a:p>
            <a:pPr marL="0" indent="0">
              <a:buNone/>
            </a:pPr>
            <a:r>
              <a:rPr lang="en-US" sz="1350">
                <a:solidFill>
                  <a:srgbClr val="9AA5B5"/>
                </a:solidFill>
                <a:latin typeface="Eurostile" pitchFamily="34" charset="0"/>
                <a:ea typeface="Eurostile" pitchFamily="34" charset="-122"/>
                <a:cs typeface="Eurostile" pitchFamily="34" charset="-120"/>
              </a:rPr>
              <a:t>R² becomes LESS stable after removing the outlier, not more. Once the highest-variance row is gone there is little variance left to explain, so MAE and RMSE are the reliable numbers.</a:t>
            </a:r>
            <a:endParaRPr lang="en-US" sz="135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11151B"/>
        </a:solidFill>
        <a:effectLst/>
      </p:bgPr>
    </p:bg>
    <p:spTree>
      <p:nvGrpSpPr>
        <p:cNvPr id="1" name=""/>
        <p:cNvGrpSpPr/>
        <p:nvPr/>
      </p:nvGrpSpPr>
      <p:grpSpPr>
        <a:xfrm>
          <a:off x="0" y="0"/>
          <a:ext cx="0" cy="0"/>
          <a:chOff x="0" y="0"/>
          <a:chExt cx="0" cy="0"/>
        </a:xfrm>
      </p:grpSpPr>
      <p:sp>
        <p:nvSpPr>
          <p:cNvPr id="2" name="Text 0"/>
          <p:cNvSpPr/>
          <p:nvPr/>
        </p:nvSpPr>
        <p:spPr>
          <a:xfrm>
            <a:off x="7955280" y="384048"/>
            <a:ext cx="3657600" cy="237744"/>
          </a:xfrm>
          <a:prstGeom prst="rect">
            <a:avLst/>
          </a:prstGeom>
          <a:noFill/>
          <a:ln/>
        </p:spPr>
        <p:txBody>
          <a:bodyPr wrap="square" lIns="0" tIns="0" rIns="0" bIns="0" rtlCol="0" anchor="ctr"/>
          <a:lstStyle/>
          <a:p>
            <a:pPr marL="0" indent="0" algn="r">
              <a:buNone/>
            </a:pPr>
            <a:r>
              <a:rPr lang="en-US" sz="1050" b="1" kern="0" spc="140">
                <a:solidFill>
                  <a:srgbClr val="6B7686"/>
                </a:solidFill>
                <a:latin typeface="Eurostile" pitchFamily="34" charset="0"/>
                <a:ea typeface="Eurostile" pitchFamily="34" charset="-122"/>
                <a:cs typeface="Eurostile" pitchFamily="34" charset="-120"/>
              </a:rPr>
              <a:t>BACKUP · NOT PRESENTED</a:t>
            </a:r>
            <a:endParaRPr lang="en-US" sz="1050"/>
          </a:p>
        </p:txBody>
      </p:sp>
      <p:sp>
        <p:nvSpPr>
          <p:cNvPr id="3" name="Text 1"/>
          <p:cNvSpPr/>
          <p:nvPr/>
        </p:nvSpPr>
        <p:spPr>
          <a:xfrm>
            <a:off x="566928" y="384048"/>
            <a:ext cx="8686800" cy="237744"/>
          </a:xfrm>
          <a:prstGeom prst="rect">
            <a:avLst/>
          </a:prstGeom>
          <a:noFill/>
          <a:ln/>
        </p:spPr>
        <p:txBody>
          <a:bodyPr wrap="square" lIns="0" tIns="0" rIns="0" bIns="0" rtlCol="0" anchor="ctr"/>
          <a:lstStyle/>
          <a:p>
            <a:pPr marL="0" indent="0">
              <a:buNone/>
            </a:pPr>
            <a:r>
              <a:rPr lang="en-US" sz="1150" b="1" kern="0" spc="160">
                <a:solidFill>
                  <a:srgbClr val="7186A6"/>
                </a:solidFill>
                <a:latin typeface="Eurostile" pitchFamily="34" charset="0"/>
                <a:ea typeface="Eurostile" pitchFamily="34" charset="-122"/>
                <a:cs typeface="Eurostile" pitchFamily="34" charset="-120"/>
              </a:rPr>
              <a:t>BACKUP 04 · THE SCORECARD OUTPUT</a:t>
            </a:r>
            <a:endParaRPr lang="en-US" sz="1150"/>
          </a:p>
        </p:txBody>
      </p:sp>
      <p:sp>
        <p:nvSpPr>
          <p:cNvPr id="4" name="Text 2"/>
          <p:cNvSpPr/>
          <p:nvPr/>
        </p:nvSpPr>
        <p:spPr>
          <a:xfrm>
            <a:off x="566928" y="658368"/>
            <a:ext cx="10972800" cy="658368"/>
          </a:xfrm>
          <a:prstGeom prst="rect">
            <a:avLst/>
          </a:prstGeom>
          <a:noFill/>
          <a:ln/>
        </p:spPr>
        <p:txBody>
          <a:bodyPr wrap="square" lIns="0" tIns="0" rIns="0" bIns="0" rtlCol="0" anchor="ctr"/>
          <a:lstStyle/>
          <a:p>
            <a:pPr marL="0" indent="0">
              <a:buNone/>
            </a:pPr>
            <a:r>
              <a:rPr lang="en-US" sz="3000" b="1">
                <a:solidFill>
                  <a:srgbClr val="E7EAEF"/>
                </a:solidFill>
                <a:latin typeface="Eurostile" pitchFamily="34" charset="0"/>
                <a:ea typeface="Eurostile" pitchFamily="34" charset="-122"/>
                <a:cs typeface="Eurostile" pitchFamily="34" charset="-120"/>
              </a:rPr>
              <a:t>Risk category distribution</a:t>
            </a:r>
            <a:endParaRPr lang="en-US" sz="3000"/>
          </a:p>
        </p:txBody>
      </p:sp>
      <p:pic>
        <p:nvPicPr>
          <p:cNvPr id="5" name="Image 0" descr="charts/risk_distribution.png"/>
          <p:cNvPicPr>
            <a:picLocks noChangeAspect="1"/>
          </p:cNvPicPr>
          <p:nvPr/>
        </p:nvPicPr>
        <p:blipFill>
          <a:blip r:embed="rId3"/>
          <a:stretch>
            <a:fillRect/>
          </a:stretch>
        </p:blipFill>
        <p:spPr>
          <a:xfrm>
            <a:off x="2651760" y="1554480"/>
            <a:ext cx="6858000" cy="3200400"/>
          </a:xfrm>
          <a:prstGeom prst="rect">
            <a:avLst/>
          </a:prstGeom>
        </p:spPr>
      </p:pic>
      <p:sp>
        <p:nvSpPr>
          <p:cNvPr id="6" name="Text 3"/>
          <p:cNvSpPr/>
          <p:nvPr/>
        </p:nvSpPr>
        <p:spPr>
          <a:xfrm>
            <a:off x="566928" y="5074920"/>
            <a:ext cx="10881360" cy="1280160"/>
          </a:xfrm>
          <a:prstGeom prst="rect">
            <a:avLst/>
          </a:prstGeom>
          <a:noFill/>
          <a:ln/>
        </p:spPr>
        <p:txBody>
          <a:bodyPr wrap="square" lIns="0" tIns="0" rIns="0" bIns="0" rtlCol="0" anchor="ctr"/>
          <a:lstStyle/>
          <a:p>
            <a:pPr marL="177800" indent="-177800">
              <a:lnSpc>
                <a:spcPts val="2100"/>
              </a:lnSpc>
              <a:spcAft>
                <a:spcPts val="1100"/>
              </a:spcAft>
              <a:buSzPct val="100000"/>
              <a:buChar char="•"/>
            </a:pPr>
            <a:r>
              <a:rPr lang="en-US" sz="1300">
                <a:solidFill>
                  <a:srgbClr val="E7EAEF"/>
                </a:solidFill>
                <a:latin typeface="Eurostile" pitchFamily="34" charset="0"/>
                <a:ea typeface="Eurostile" pitchFamily="34" charset="-122"/>
                <a:cs typeface="Eurostile" pitchFamily="34" charset="-120"/>
              </a:rPr>
              <a:t>1 Critical Risk corridor (4+ flags): Sweden → EU. 13 High Risk corridors, up from 7 under the old momentum definition</a:t>
            </a:r>
            <a:endParaRPr lang="en-US" sz="1300"/>
          </a:p>
          <a:p>
            <a:pPr marL="177800" indent="-177800">
              <a:lnSpc>
                <a:spcPts val="2100"/>
              </a:lnSpc>
              <a:spcAft>
                <a:spcPts val="1100"/>
              </a:spcAft>
              <a:buSzPct val="100000"/>
              <a:buChar char="•"/>
            </a:pPr>
            <a:r>
              <a:rPr lang="en-US" sz="1300">
                <a:solidFill>
                  <a:srgbClr val="E7EAEF"/>
                </a:solidFill>
                <a:latin typeface="Eurostile" pitchFamily="34" charset="0"/>
                <a:ea typeface="Eurostile" pitchFamily="34" charset="-122"/>
                <a:cs typeface="Eurostile" pitchFamily="34" charset="-120"/>
              </a:rPr>
              <a:t>Crossing risk with economic importance yields the action: Immediate Attention (5) · Protect and Maintain · Monitor or Diversify · Observe</a:t>
            </a:r>
            <a:endParaRPr lang="en-US" sz="13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11151B"/>
        </a:solidFill>
        <a:effectLst/>
      </p:bgPr>
    </p:bg>
    <p:spTree>
      <p:nvGrpSpPr>
        <p:cNvPr id="1" name=""/>
        <p:cNvGrpSpPr/>
        <p:nvPr/>
      </p:nvGrpSpPr>
      <p:grpSpPr>
        <a:xfrm>
          <a:off x="0" y="0"/>
          <a:ext cx="0" cy="0"/>
          <a:chOff x="0" y="0"/>
          <a:chExt cx="0" cy="0"/>
        </a:xfrm>
      </p:grpSpPr>
      <p:sp>
        <p:nvSpPr>
          <p:cNvPr id="2" name="Text 0"/>
          <p:cNvSpPr/>
          <p:nvPr/>
        </p:nvSpPr>
        <p:spPr>
          <a:xfrm>
            <a:off x="7955280" y="384048"/>
            <a:ext cx="3657600" cy="237744"/>
          </a:xfrm>
          <a:prstGeom prst="rect">
            <a:avLst/>
          </a:prstGeom>
          <a:noFill/>
          <a:ln/>
        </p:spPr>
        <p:txBody>
          <a:bodyPr wrap="square" lIns="0" tIns="0" rIns="0" bIns="0" rtlCol="0" anchor="ctr"/>
          <a:lstStyle/>
          <a:p>
            <a:pPr marL="0" indent="0" algn="r">
              <a:buNone/>
            </a:pPr>
            <a:r>
              <a:rPr lang="en-US" sz="1050" b="1" kern="0" spc="140">
                <a:solidFill>
                  <a:srgbClr val="6B7686"/>
                </a:solidFill>
                <a:latin typeface="Eurostile" pitchFamily="34" charset="0"/>
                <a:ea typeface="Eurostile" pitchFamily="34" charset="-122"/>
                <a:cs typeface="Eurostile" pitchFamily="34" charset="-120"/>
              </a:rPr>
              <a:t>BACKUP · NOT PRESENTED</a:t>
            </a:r>
            <a:endParaRPr lang="en-US" sz="1050"/>
          </a:p>
        </p:txBody>
      </p:sp>
      <p:sp>
        <p:nvSpPr>
          <p:cNvPr id="3" name="Text 1"/>
          <p:cNvSpPr/>
          <p:nvPr/>
        </p:nvSpPr>
        <p:spPr>
          <a:xfrm>
            <a:off x="566928" y="384048"/>
            <a:ext cx="8686800" cy="237744"/>
          </a:xfrm>
          <a:prstGeom prst="rect">
            <a:avLst/>
          </a:prstGeom>
          <a:noFill/>
          <a:ln/>
        </p:spPr>
        <p:txBody>
          <a:bodyPr wrap="square" lIns="0" tIns="0" rIns="0" bIns="0" rtlCol="0" anchor="ctr"/>
          <a:lstStyle/>
          <a:p>
            <a:pPr marL="0" indent="0">
              <a:buNone/>
            </a:pPr>
            <a:r>
              <a:rPr lang="en-US" sz="1150" b="1" kern="0" spc="160">
                <a:solidFill>
                  <a:srgbClr val="7186A6"/>
                </a:solidFill>
                <a:latin typeface="Eurostile" pitchFamily="34" charset="0"/>
                <a:ea typeface="Eurostile" pitchFamily="34" charset="-122"/>
                <a:cs typeface="Eurostile" pitchFamily="34" charset="-120"/>
              </a:rPr>
              <a:t>BACKUP 05 · VALIDATING THE SCORECARD</a:t>
            </a:r>
            <a:endParaRPr lang="en-US" sz="1150"/>
          </a:p>
        </p:txBody>
      </p:sp>
      <p:sp>
        <p:nvSpPr>
          <p:cNvPr id="4" name="Text 2"/>
          <p:cNvSpPr/>
          <p:nvPr/>
        </p:nvSpPr>
        <p:spPr>
          <a:xfrm>
            <a:off x="566928" y="658368"/>
            <a:ext cx="10972800" cy="658368"/>
          </a:xfrm>
          <a:prstGeom prst="rect">
            <a:avLst/>
          </a:prstGeom>
          <a:noFill/>
          <a:ln/>
        </p:spPr>
        <p:txBody>
          <a:bodyPr wrap="square" lIns="0" tIns="0" rIns="0" bIns="0" rtlCol="0" anchor="ctr"/>
          <a:lstStyle/>
          <a:p>
            <a:pPr marL="0" indent="0">
              <a:buNone/>
            </a:pPr>
            <a:r>
              <a:rPr lang="en-US" sz="3000" b="1">
                <a:solidFill>
                  <a:srgbClr val="E7EAEF"/>
                </a:solidFill>
                <a:latin typeface="Eurostile" pitchFamily="34" charset="0"/>
                <a:ea typeface="Eurostile" pitchFamily="34" charset="-122"/>
                <a:cs typeface="Eurostile" pitchFamily="34" charset="-120"/>
              </a:rPr>
              <a:t>Confusion matrix: risk flag vs. actual contraction</a:t>
            </a:r>
            <a:endParaRPr lang="en-US" sz="3000"/>
          </a:p>
        </p:txBody>
      </p:sp>
      <p:sp>
        <p:nvSpPr>
          <p:cNvPr id="8" name="Text 4"/>
          <p:cNvSpPr/>
          <p:nvPr/>
        </p:nvSpPr>
        <p:spPr>
          <a:xfrm>
            <a:off x="1463040" y="4709160"/>
            <a:ext cx="9235440" cy="457200"/>
          </a:xfrm>
          <a:prstGeom prst="rect">
            <a:avLst/>
          </a:prstGeom>
          <a:noFill/>
          <a:ln/>
        </p:spPr>
        <p:txBody>
          <a:bodyPr wrap="square" lIns="0" tIns="0" rIns="0" bIns="0" rtlCol="0" anchor="ctr"/>
          <a:lstStyle/>
          <a:p>
            <a:pPr marL="0" indent="0">
              <a:buNone/>
            </a:pPr>
            <a:r>
              <a:rPr lang="en-US" sz="1400" b="1">
                <a:solidFill>
                  <a:srgbClr val="E0973F"/>
                </a:solidFill>
                <a:latin typeface="Eurostile" pitchFamily="34" charset="0"/>
                <a:ea typeface="Eurostile" pitchFamily="34" charset="-122"/>
                <a:cs typeface="Eurostile" pitchFamily="34" charset="-120"/>
              </a:rPr>
              <a:t>This is why the framework is presented as a structural exposure monitor, not a growth forecaster.</a:t>
            </a:r>
            <a:endParaRPr lang="en-US" sz="1400"/>
          </a:p>
        </p:txBody>
      </p:sp>
      <p:pic>
        <p:nvPicPr>
          <p:cNvPr id="5" name="Picture 4">
            <a:extLst>
              <a:ext uri="{FF2B5EF4-FFF2-40B4-BE49-F238E27FC236}">
                <a16:creationId xmlns:a16="http://schemas.microsoft.com/office/drawing/2014/main" id="{0F27EBEC-2CB4-6486-175E-49925CCA2007}"/>
              </a:ext>
            </a:extLst>
          </p:cNvPr>
          <p:cNvPicPr>
            <a:picLocks noChangeAspect="1"/>
          </p:cNvPicPr>
          <p:nvPr/>
        </p:nvPicPr>
        <p:blipFill>
          <a:blip r:embed="rId3"/>
          <a:stretch>
            <a:fillRect/>
          </a:stretch>
        </p:blipFill>
        <p:spPr>
          <a:xfrm>
            <a:off x="1242873" y="1714476"/>
            <a:ext cx="9624874" cy="282240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2164</Words>
  <Application>Microsoft Macintosh PowerPoint</Application>
  <PresentationFormat>Widescreen</PresentationFormat>
  <Paragraphs>209</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Eurostile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Historical Disruptions</dc:title>
  <dc:subject>PptxGenJS Presentation</dc:subject>
  <dc:creator>Trade Corridor Project</dc:creator>
  <cp:lastModifiedBy>John Young</cp:lastModifiedBy>
  <cp:revision>4</cp:revision>
  <dcterms:created xsi:type="dcterms:W3CDTF">2026-08-08T02:22:47Z</dcterms:created>
  <dcterms:modified xsi:type="dcterms:W3CDTF">2026-08-10T20:34:23Z</dcterms:modified>
</cp:coreProperties>
</file>